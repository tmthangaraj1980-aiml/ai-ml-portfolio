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  <ns0:sldId id="268" ns1:id="rId19"/>
  </ns0:sldIdLst>
  <ns0:sldSz cx="12192000" cy="6858000" type="screen4x3"/>
  <ns0:notesSz cx="6858000" cy="9144000"/>
  <ns0:embeddedFontLst>
    <ns0:embeddedFont>
      <ns0:font typeface="Space Grotesk"/>
      <ns0:bold ns1:id="rIdFont20"/>
      <ns0:regular ns1:id="rIdFont21"/>
    </ns0:embeddedFont>
    <ns0:embeddedFont>
      <ns0:font typeface="Inter"/>
      <ns0:bold ns1:id="rIdFont22"/>
      <ns0:regular ns1:id="rIdFont23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19" Type="http://schemas.openxmlformats.org/officeDocument/2006/relationships/slide" Target="slides/slide13.xml" /><ns0:Relationship Id="rIdFont20" Type="http://schemas.openxmlformats.org/officeDocument/2006/relationships/font" Target="fonts/b618959b-b3a0-4819-b54a-853ab583cc63.fntdata" /><ns0:Relationship Id="rIdFont21" Type="http://schemas.openxmlformats.org/officeDocument/2006/relationships/font" Target="fonts/ff6c56a4-8fc6-4699-bac3-e7b1b52c38bf.fntdata" /><ns0:Relationship Id="rIdFont22" Type="http://schemas.openxmlformats.org/officeDocument/2006/relationships/font" Target="fonts/3ea92a68-e93e-4608-bcb1-7646bf58416b.fntdata" /><ns0:Relationship Id="rIdFont23" Type="http://schemas.openxmlformats.org/officeDocument/2006/relationships/font" Target="fonts/ccb014b8-5d2a-476b-a27e-174847745f67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0487" y="4358580"/>
            <a:ext cx="219075" cy="228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8187" y="2270819"/>
            <a:ext cx="1071562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0891B2"/>
                </a:solidFill>
                <a:latin typeface="Space Grotesk"/>
              </a:rPr>
              <a:t>GENERATIVE AI &amp; DOCUMENT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0296" y="2642294"/>
            <a:ext cx="11251406" cy="754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5940"/>
              </a:lnSpc>
            </a:pPr>
            <a:r>
              <a:rPr b="1" sz="5400" i="0" u="none">
                <a:solidFill>
                  <a:srgbClr val="F8FAFC"/>
                </a:solidFill>
                <a:latin typeface="Space Grotesk"/>
              </a:rPr>
              <a:t>StudyLens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8187" y="3625155"/>
            <a:ext cx="10715625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800" i="0" u="none">
                <a:solidFill>
                  <a:srgbClr val="94A3B8"/>
                </a:solidFill>
                <a:latin typeface="Inter"/>
              </a:rPr>
              <a:t>Transforming static documents into interactive knowledge graphs using RAG.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69518" y="4372867"/>
            <a:ext cx="502443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E2E8F0"/>
                </a:solidFill>
                <a:latin typeface="Inter"/>
              </a:rPr>
              <a:t>github.com/tmthangaraj1980-AIML/Studylense_AI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0"/>
            <a:ext cx="5334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0"/>
            <a:ext cx="5334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3112740"/>
            <a:ext cx="228600" cy="2476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3808065"/>
            <a:ext cx="228600" cy="2476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4503390"/>
            <a:ext cx="228600" cy="2476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2000" y="1916459"/>
            <a:ext cx="66675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891B2"/>
                </a:solidFill>
                <a:latin typeface="Space Grotesk"/>
              </a:rP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2230784"/>
            <a:ext cx="7000875" cy="5485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1" sz="3600" i="0" u="none">
                <a:solidFill>
                  <a:srgbClr val="0F172A"/>
                </a:solidFill>
                <a:latin typeface="Space Grotesk"/>
              </a:rPr>
              <a:t>Information Silos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084165"/>
            <a:ext cx="4181475" cy="466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Data Overload:</a:t>
            </a:r>
            <a:r>
              <a:rPr b="1" sz="1500" i="0" u="none">
                <a:solidFill>
                  <a:srgbClr val="0F172A"/>
                </a:solidFill>
                <a:latin typeface="Inter"/>
              </a:rPr>
              <a:t> </a:t>
            </a:r>
            <a:r>
              <a:rPr b="1" sz="1350" i="0" u="none">
                <a:solidFill>
                  <a:srgbClr val="475569"/>
                </a:solidFill>
                <a:latin typeface="Inter"/>
              </a:rPr>
              <a:t>Massive volume of unstructured enterprise PDFs.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3779490"/>
            <a:ext cx="3276600" cy="466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Retrieval Friction:</a:t>
            </a:r>
            <a:r>
              <a:rPr b="1" sz="1500" i="0" u="none">
                <a:solidFill>
                  <a:srgbClr val="0F172A"/>
                </a:solidFill>
                <a:latin typeface="Inter"/>
              </a:rPr>
              <a:t> </a:t>
            </a:r>
            <a:r>
              <a:rPr b="1" sz="1350" i="0" u="none">
                <a:solidFill>
                  <a:srgbClr val="475569"/>
                </a:solidFill>
                <a:latin typeface="Inter"/>
              </a:rPr>
              <a:t>Keyword search fails contextual intent.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4474815"/>
            <a:ext cx="4324350" cy="466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Static Context:</a:t>
            </a:r>
            <a:r>
              <a:rPr b="1" sz="1500" i="0" u="none">
                <a:solidFill>
                  <a:srgbClr val="0F172A"/>
                </a:solidFill>
                <a:latin typeface="Inter"/>
              </a:rPr>
              <a:t> </a:t>
            </a:r>
            <a:r>
              <a:rPr b="1" sz="1350" i="0" u="none">
                <a:solidFill>
                  <a:srgbClr val="475569"/>
                </a:solidFill>
                <a:latin typeface="Inter"/>
              </a:rPr>
              <a:t>Inability to cross-reference multiple dense sources.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2819400"/>
            <a:ext cx="3352800" cy="2162175"/>
          </a:xfrm>
          <a:prstGeom prst="roundRect">
            <a:avLst>
              <a:gd name="adj" fmla="val 704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419600" y="2819400"/>
            <a:ext cx="3352800" cy="2162175"/>
          </a:xfrm>
          <a:prstGeom prst="roundRect">
            <a:avLst>
              <a:gd name="adj" fmla="val 704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819400"/>
            <a:ext cx="3352800" cy="2162175"/>
          </a:xfrm>
          <a:prstGeom prst="roundRect">
            <a:avLst>
              <a:gd name="adj" fmla="val 704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525" y="3209925"/>
            <a:ext cx="2571750" cy="3048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0125" y="3209925"/>
            <a:ext cx="2571750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7725" y="3209925"/>
            <a:ext cx="2571750" cy="30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2000" y="762000"/>
            <a:ext cx="11430000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F172A"/>
                </a:solidFill>
                <a:latin typeface="Space Grotesk"/>
              </a:rPr>
              <a:t>Core Objectives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525" y="3743325"/>
            <a:ext cx="3375421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Space Grotesk"/>
              </a:rPr>
              <a:t>Semantic Ingestion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525" y="4191000"/>
            <a:ext cx="2667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Parse complex layouts accurately.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10125" y="3743325"/>
            <a:ext cx="3375421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Space Grotesk"/>
              </a:rPr>
              <a:t>Instant Retrieval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10125" y="4191000"/>
            <a:ext cx="2667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Sub-second vector similarity search.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67725" y="3743325"/>
            <a:ext cx="3375421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Space Grotesk"/>
              </a:rPr>
              <a:t>Grounded Generation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67725" y="4191000"/>
            <a:ext cx="2667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Zero-hallucination factual synthesis.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3300" y="2776537"/>
            <a:ext cx="533400" cy="6096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00" y="2776537"/>
            <a:ext cx="609600" cy="6096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0" y="2776537"/>
            <a:ext cx="762000" cy="6096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43300" y="4167187"/>
            <a:ext cx="533400" cy="6096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91200" y="4167187"/>
            <a:ext cx="609600" cy="609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77200" y="4167187"/>
            <a:ext cx="609600" cy="609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-285750" y="762000"/>
            <a:ext cx="12763500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000" i="0" u="none">
                <a:solidFill>
                  <a:srgbClr val="0F172A"/>
                </a:solidFill>
                <a:latin typeface="Space Grotesk"/>
              </a:rPr>
              <a:t>Technology Stack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71837" y="3538537"/>
            <a:ext cx="136207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0F172A"/>
                </a:solidFill>
                <a:latin typeface="Space Grotesk"/>
              </a:rPr>
              <a:t>Python 3.10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48337" y="3538537"/>
            <a:ext cx="98107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0F172A"/>
                </a:solidFill>
                <a:latin typeface="Space Grotesk"/>
              </a:rPr>
              <a:t>FastAPI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96225" y="3538537"/>
            <a:ext cx="125730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0F172A"/>
                </a:solidFill>
                <a:latin typeface="Space Grotesk"/>
              </a:rPr>
              <a:t>LangChain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3750" y="4929187"/>
            <a:ext cx="123825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0F172A"/>
                </a:solidFill>
                <a:latin typeface="Space Grotesk"/>
              </a:rPr>
              <a:t>ChromaDB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3537" y="4929187"/>
            <a:ext cx="1631156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0F172A"/>
                </a:solidFill>
                <a:latin typeface="Space Grotesk"/>
              </a:rPr>
              <a:t>OpenAI / LLMs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39100" y="4929187"/>
            <a:ext cx="97155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0F172A"/>
                </a:solidFill>
                <a:latin typeface="Space Grotesk"/>
              </a:rPr>
              <a:t>PyPDF2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1476375"/>
            <a:ext cx="10668000" cy="4772025"/>
          </a:xfrm>
          <a:prstGeom prst="roundRect">
            <a:avLst>
              <a:gd name="adj" fmla="val 239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125" y="1714500"/>
            <a:ext cx="10191750" cy="42957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609600"/>
            <a:ext cx="11430000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F172A"/>
                </a:solidFill>
                <a:latin typeface="Space Grotesk"/>
              </a:rPr>
              <a:t>RAG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4900" y="2152650"/>
            <a:ext cx="123825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050" i="0" u="none">
                <a:solidFill>
                  <a:srgbClr val="475569"/>
                </a:solidFill>
                <a:latin typeface="Inter"/>
              </a:rPr>
              <a:t>PDF Docs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62400" y="2152650"/>
            <a:ext cx="123825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050" i="0" u="none">
                <a:solidFill>
                  <a:srgbClr val="0369A1"/>
                </a:solidFill>
                <a:latin typeface="Inter"/>
              </a:rPr>
              <a:t>Embeddings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19900" y="2152650"/>
            <a:ext cx="1238250" cy="7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050" i="0" u="none">
                <a:solidFill>
                  <a:srgbClr val="0F172A"/>
                </a:solidFill>
                <a:latin typeface="Inter"/>
              </a:rPr>
              <a:t>Vector</a:t>
            </a:r>
            <a:r>
              <a:t>
</a:t>
            </a:r>
            <a:r>
              <a:rPr b="1" sz="1050" i="0" u="none">
                <a:solidFill>
                  <a:srgbClr val="0F172A"/>
                </a:solidFill>
                <a:latin typeface="Inter"/>
              </a:rPr>
              <a:t> Database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4900" y="4057650"/>
            <a:ext cx="123825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050" i="0" u="none">
                <a:solidFill>
                  <a:srgbClr val="475569"/>
                </a:solidFill>
                <a:latin typeface="Inter"/>
              </a:rPr>
              <a:t>User Query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62400" y="4057650"/>
            <a:ext cx="123825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050" i="0" u="none">
                <a:solidFill>
                  <a:srgbClr val="0369A1"/>
                </a:solidFill>
                <a:latin typeface="Inter"/>
              </a:rPr>
              <a:t>Query</a:t>
            </a:r>
            <a:r>
              <a:t>
</a:t>
            </a:r>
            <a:r>
              <a:rPr b="1" sz="1050" i="0" u="none">
                <a:solidFill>
                  <a:srgbClr val="0369A1"/>
                </a:solidFill>
                <a:latin typeface="Inter"/>
              </a:rPr>
              <a:t> Embedding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19900" y="3390900"/>
            <a:ext cx="123825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050" i="0" u="none">
                <a:solidFill>
                  <a:srgbClr val="0F172A"/>
                </a:solidFill>
                <a:latin typeface="Inter"/>
              </a:rPr>
              <a:t>LLM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01150" y="3105150"/>
            <a:ext cx="123825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050" i="0" u="none">
                <a:solidFill>
                  <a:srgbClr val="0F172A"/>
                </a:solidFill>
                <a:latin typeface="Inter"/>
              </a:rPr>
              <a:t>Response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285750" y="762000"/>
            <a:ext cx="12763500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000" i="0" u="none">
                <a:solidFill>
                  <a:srgbClr val="0F172A"/>
                </a:solidFill>
                <a:latin typeface="Space Grotesk"/>
              </a:rPr>
              <a:t>Processing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1295400" y="4033837"/>
            <a:ext cx="9601200" cy="381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14450" y="3376612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298900" y="3281362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283350" y="3281362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267801" y="3376612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71575" y="3376612"/>
            <a:ext cx="89535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800" i="0" u="none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9175" y="4214812"/>
            <a:ext cx="120015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Space Grotesk"/>
              </a:rPr>
              <a:t>Ingestion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2234" y="4538662"/>
            <a:ext cx="1774031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475569"/>
                </a:solidFill>
                <a:latin typeface="Inter"/>
              </a:rPr>
              <a:t>Parse raw PDF text.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56025" y="3281362"/>
            <a:ext cx="89535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800" i="0" u="none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03625" y="4119562"/>
            <a:ext cx="120015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Space Grotesk"/>
              </a:rPr>
              <a:t>Chunking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32137" y="4443412"/>
            <a:ext cx="2143125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475569"/>
                </a:solidFill>
                <a:latin typeface="Inter"/>
              </a:rPr>
              <a:t>Recursive character splitting.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40475" y="3281362"/>
            <a:ext cx="89535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800" i="0" u="none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93063" y="4119562"/>
            <a:ext cx="1390173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Space Grotesk"/>
              </a:rPr>
              <a:t>Vectorizing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6588" y="4443412"/>
            <a:ext cx="2143125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475569"/>
                </a:solidFill>
                <a:latin typeface="Inter"/>
              </a:rPr>
              <a:t>Generate dense embeddings.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24926" y="3376612"/>
            <a:ext cx="89535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800" i="0" u="none">
                <a:solidFill>
                  <a:srgbClr val="FFFFFF"/>
                </a:solidFill>
                <a:latin typeface="Inter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52523" y="4214812"/>
            <a:ext cx="124015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Space Grotesk"/>
              </a:rPr>
              <a:t>Synthesis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36757" y="4538662"/>
            <a:ext cx="2071687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475569"/>
                </a:solidFill>
                <a:latin typeface="Inter"/>
              </a:rPr>
              <a:t>LLM generates answer.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" y="2152650"/>
            <a:ext cx="50292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0" y="2152650"/>
            <a:ext cx="50292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414587"/>
            <a:ext cx="171450" cy="2000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833687"/>
            <a:ext cx="171450" cy="2000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3252787"/>
            <a:ext cx="171450" cy="2000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414587"/>
            <a:ext cx="190500" cy="2000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833687"/>
            <a:ext cx="190500" cy="2000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3252787"/>
            <a:ext cx="190500" cy="20002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62000" y="762000"/>
            <a:ext cx="11430000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F172A"/>
                </a:solidFill>
                <a:latin typeface="Space Grotesk"/>
              </a:rPr>
              <a:t>Dataset &amp; Preprocessing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1704975"/>
            <a:ext cx="5380672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891B2"/>
                </a:solidFill>
                <a:latin typeface="Space Grotesk"/>
              </a:rPr>
              <a:t>Source Material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704975"/>
            <a:ext cx="5380672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891B2"/>
                </a:solidFill>
                <a:latin typeface="Space Grotesk"/>
              </a:rPr>
              <a:t>Cleaning Pipeline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5850" y="2400300"/>
            <a:ext cx="48006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Academic research papers.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5850" y="2819400"/>
            <a:ext cx="48006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Corporate technical manuals.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5850" y="3238500"/>
            <a:ext cx="48006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Unstructured text corpora.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43700" y="2400300"/>
            <a:ext cx="478155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Whitespace normalization.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43700" y="2819400"/>
            <a:ext cx="478155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Non-ASCII character removal.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43700" y="3238500"/>
            <a:ext cx="478155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Semantic chunking strategies.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2971800"/>
            <a:ext cx="5181600" cy="2238375"/>
          </a:xfrm>
          <a:prstGeom prst="roundRect">
            <a:avLst>
              <a:gd name="adj" fmla="val 680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2971800"/>
            <a:ext cx="5181600" cy="2238375"/>
          </a:xfrm>
          <a:prstGeom prst="roundRect">
            <a:avLst>
              <a:gd name="adj" fmla="val 680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62000" y="2971800"/>
            <a:ext cx="38100" cy="2238375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48400" y="2971800"/>
            <a:ext cx="38100" cy="2238375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0" y="762000"/>
            <a:ext cx="11430000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F172A"/>
                </a:solidFill>
                <a:latin typeface="Space Grotesk"/>
              </a:rPr>
              <a:t>Core AI Algorithms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1400175"/>
            <a:ext cx="11430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475569"/>
                </a:solidFill>
                <a:latin typeface="Inter"/>
              </a:rPr>
              <a:t>Dual-model architecture powering the intelligence engine.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57300" y="3429000"/>
            <a:ext cx="5550693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Space Grotesk"/>
              </a:rPr>
              <a:t>Embedding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57300" y="4000500"/>
            <a:ext cx="52863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475569"/>
                </a:solidFill>
                <a:latin typeface="Inter"/>
              </a:rPr>
              <a:t>Model: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OpenAI text-embedding-ada-002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57300" y="4352925"/>
            <a:ext cx="43243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475569"/>
                </a:solidFill>
                <a:latin typeface="Inter"/>
              </a:rPr>
              <a:t>Function: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Maps text chunks to 1536-dimensional vectors.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43700" y="3429000"/>
            <a:ext cx="5448300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Space Grotesk"/>
              </a:rPr>
              <a:t>Generation LLM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43700" y="4000500"/>
            <a:ext cx="52863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475569"/>
                </a:solidFill>
                <a:latin typeface="Inter"/>
              </a:rPr>
              <a:t>Model: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GPT-3.5-Turbo / GPT-4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43700" y="4352925"/>
            <a:ext cx="43243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475569"/>
                </a:solidFill>
                <a:latin typeface="Inter"/>
              </a:rPr>
              <a:t>Function: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Synthesizes answers bounded by retrieved context.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10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00475" y="0"/>
            <a:ext cx="9525" cy="6858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4435673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0" y="0"/>
            <a:ext cx="8382000" cy="6858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7200" y="457200"/>
            <a:ext cx="7467600" cy="5943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2269926"/>
            <a:ext cx="2810351" cy="8227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0F172A"/>
                </a:solidFill>
                <a:latin typeface="Space Grotesk"/>
              </a:rPr>
              <a:t>Application Interface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3321248"/>
            <a:ext cx="2676525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Clean, intuitive chat interface facilitating real-time document interrogation.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4397573"/>
            <a:ext cx="204787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Live Status: Deployed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1237" y="1857375"/>
            <a:ext cx="9525" cy="42386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762000"/>
            <a:ext cx="11430000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F172A"/>
                </a:solidFill>
                <a:latin typeface="Space Grotesk"/>
              </a:rPr>
              <a:t>Challenges &amp; Iterations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1857375"/>
            <a:ext cx="6394549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891B2"/>
                </a:solidFill>
                <a:latin typeface="Space Grotesk"/>
              </a:rPr>
              <a:t>Encountered Challenges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57962" y="1857375"/>
            <a:ext cx="5634037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891B2"/>
                </a:solidFill>
                <a:latin typeface="Space Grotesk"/>
              </a:rPr>
              <a:t>Future Improvements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2381250"/>
            <a:ext cx="4967287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Context Window Limits</a:t>
            </a:r>
            <a:r>
              <a:rPr b="1" sz="1500" i="0" u="none">
                <a:solidFill>
                  <a:srgbClr val="0F172A"/>
                </a:solidFill>
                <a:latin typeface="Inter"/>
              </a:rPr>
              <a:t> </a:t>
            </a:r>
            <a:r>
              <a:rPr b="1" sz="1200" i="0" u="none">
                <a:solidFill>
                  <a:srgbClr val="475569"/>
                </a:solidFill>
                <a:latin typeface="Inter"/>
              </a:rPr>
              <a:t>Truncated large document retrieval results.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3105150"/>
            <a:ext cx="4967287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Table Extraction</a:t>
            </a:r>
            <a:r>
              <a:rPr b="1" sz="1500" i="0" u="none">
                <a:solidFill>
                  <a:srgbClr val="0F172A"/>
                </a:solidFill>
                <a:latin typeface="Inter"/>
              </a:rPr>
              <a:t> </a:t>
            </a:r>
            <a:r>
              <a:rPr b="1" sz="1200" i="0" u="none">
                <a:solidFill>
                  <a:srgbClr val="475569"/>
                </a:solidFill>
                <a:latin typeface="Inter"/>
              </a:rPr>
              <a:t>Loss of structural format in standard PDF parsers.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57962" y="2381250"/>
            <a:ext cx="4967287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Multimodal RAG</a:t>
            </a:r>
            <a:r>
              <a:rPr b="1" sz="1500" i="0" u="none">
                <a:solidFill>
                  <a:srgbClr val="0F172A"/>
                </a:solidFill>
                <a:latin typeface="Inter"/>
              </a:rPr>
              <a:t> </a:t>
            </a:r>
            <a:r>
              <a:rPr b="1" sz="1200" i="0" u="none">
                <a:solidFill>
                  <a:srgbClr val="475569"/>
                </a:solidFill>
                <a:latin typeface="Inter"/>
              </a:rPr>
              <a:t>Process images and diagrams alongside text.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57962" y="3105150"/>
            <a:ext cx="4967287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Hybrid Search</a:t>
            </a:r>
            <a:r>
              <a:rPr b="1" sz="1500" i="0" u="none">
                <a:solidFill>
                  <a:srgbClr val="0F172A"/>
                </a:solidFill>
                <a:latin typeface="Inter"/>
              </a:rPr>
              <a:t> </a:t>
            </a:r>
            <a:r>
              <a:rPr b="1" sz="1200" i="0" u="none">
                <a:solidFill>
                  <a:srgbClr val="475569"/>
                </a:solidFill>
                <a:latin typeface="Inter"/>
              </a:rPr>
              <a:t>Combine keyword (BM25) with vector search.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609600"/>
            <a:ext cx="114300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Technical Q&amp;A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428750"/>
            <a:ext cx="63817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1. How does RAG mitigate hallucination?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1724025"/>
            <a:ext cx="638175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Grounds the LLM generation explicitly in retrieved factual context.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2219325"/>
            <a:ext cx="63817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2. Why semantic over lexical search?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2514600"/>
            <a:ext cx="638175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Captures contextual meaning rather than exact keyword matches.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3009900"/>
            <a:ext cx="63817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3. Ideal chunking strategy?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3305175"/>
            <a:ext cx="638175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Recursive character splitting with overlapping windows.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4600" y="1428750"/>
            <a:ext cx="58674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4. How to optimize Vector DB speed?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4600" y="1724025"/>
            <a:ext cx="58674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Utilize HNSW (Hierarchical Navigable Small World) indexing.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4600" y="2219325"/>
            <a:ext cx="58674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5. Handling massive documents?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4600" y="2514600"/>
            <a:ext cx="58674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Implement map-reduce summarization prior to querying.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9687" y="4239517"/>
            <a:ext cx="295275" cy="3048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125" y="4239517"/>
            <a:ext cx="266700" cy="30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39130" y="2008882"/>
            <a:ext cx="9913739" cy="676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4200" i="0" u="none">
                <a:solidFill>
                  <a:srgbClr val="F8FAFC"/>
                </a:solidFill>
                <a:latin typeface="Space Grotesk"/>
              </a:rPr>
              <a:t>Intelligent Insights Delivered.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8812" y="2989957"/>
            <a:ext cx="8334375" cy="639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b="0" sz="1800" i="0" u="none">
                <a:solidFill>
                  <a:srgbClr val="94A3B8"/>
                </a:solidFill>
                <a:latin typeface="Inter"/>
              </a:rPr>
              <a:t>StudyLens AI bridges the gap between static enterprise data and actionable knowledge extraction.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43450" y="4658617"/>
            <a:ext cx="13335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8FAFC"/>
                </a:solidFill>
                <a:latin typeface="Inter"/>
              </a:rPr>
              <a:t>/Studylense_AI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48400" y="4658617"/>
            <a:ext cx="1500187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8FAFC"/>
                </a:solidFill>
                <a:latin typeface="Inter"/>
              </a:rPr>
              <a:t>tmthangaraj1980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" y="847725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16097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16097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990600"/>
            <a:ext cx="857250" cy="4762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62125"/>
            <a:ext cx="857250" cy="476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" y="571500"/>
            <a:ext cx="2175271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00000"/>
                </a:solidFill>
                <a:latin typeface="Inter"/>
              </a:rPr>
              <a:t>Image 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66875" y="1033462"/>
            <a:ext cx="732234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00000"/>
                </a:solidFill>
                <a:latin typeface="Inter"/>
              </a:rPr>
              <a:t>https://d3lkc3n5th01x7.cloudfront.net/wp-content/uploads/2024/08/26051537/Advanced-RAG.png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66875" y="1233487"/>
            <a:ext cx="2797968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00000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www.leewayhertz.com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6875" y="1804987"/>
            <a:ext cx="9203531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00000"/>
                </a:solidFill>
                <a:latin typeface="Inter"/>
              </a:rPr>
              <a:t>https://cdn.dribbble.com/userupload/45788503/file/b1676f6d71c218be5825d216432d1398.png?resize=752x&amp;vertical=center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6875" y="2005012"/>
            <a:ext cx="195262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00000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dribbble.com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