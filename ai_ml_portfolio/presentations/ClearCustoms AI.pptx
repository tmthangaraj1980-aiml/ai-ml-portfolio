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Inter"/>
      <ns0:bold ns1:id="rIdFont20"/>
      <ns0:regular ns1:id="rIdFont21"/>
    </ns0:embeddedFont>
    <ns0:embeddedFont>
      <ns0:font typeface="Space Grotesk"/>
      <ns0:bold ns1:id="rIdFont22"/>
      <ns0:regular ns1:id="rIdFont2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ba542b3f-3155-4b40-8cad-3b273f40740d.fntdata" /><ns0:Relationship Id="rIdFont21" Type="http://schemas.openxmlformats.org/officeDocument/2006/relationships/font" Target="fonts/43b61681-05fc-48fc-98ae-96f2c276cfaf.fntdata" /><ns0:Relationship Id="rIdFont22" Type="http://schemas.openxmlformats.org/officeDocument/2006/relationships/font" Target="fonts/fe3bb551-61d1-436d-90ba-080e60587ce8.fntdata" /><ns0:Relationship Id="rIdFont23" Type="http://schemas.openxmlformats.org/officeDocument/2006/relationships/font" Target="fonts/25b14842-5f4d-498d-a3fe-0bb0b0a5dec2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48162" y="2261294"/>
            <a:ext cx="1228725" cy="238125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4368105"/>
            <a:ext cx="228600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0296" y="2651819"/>
            <a:ext cx="11251406" cy="754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F8FAFC"/>
                </a:solidFill>
                <a:latin typeface="Space Grotesk"/>
              </a:rPr>
              <a:t>ClearCustoms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8187" y="3634680"/>
            <a:ext cx="1071562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Automated parsing and semantic extraction for global trade documentation.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08871" y="2299394"/>
            <a:ext cx="1307306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Inter"/>
              </a:rPr>
              <a:t>IN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22106" y="2270819"/>
            <a:ext cx="269081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0891B2"/>
                </a:solidFill>
                <a:latin typeface="Space Grotesk"/>
              </a:rPr>
              <a:t>DOCUMENT AI &amp; GENAI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05375" y="4382392"/>
            <a:ext cx="2762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E2E8F0"/>
                </a:solidFill>
                <a:latin typeface="Inter"/>
              </a:rPr>
              <a:t>Active Development Phase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112740"/>
            <a:ext cx="17145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808065"/>
            <a:ext cx="257175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503390"/>
            <a:ext cx="28575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1916459"/>
            <a:ext cx="6667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891B2"/>
                </a:solidFill>
                <a:latin typeface="Space Grotesk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230784"/>
            <a:ext cx="7000875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Trade Friction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" y="3084165"/>
            <a:ext cx="3800475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Unstructured Chaos: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Thousands of varied invoice formats globally.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1575" y="3779490"/>
            <a:ext cx="30670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Manual Bottlenecks: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Slow, error-prone human data entry.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0150" y="4474815"/>
            <a:ext cx="419100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Compliance Risks: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Mistyped HS codes trigger costly customs delays.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819400"/>
            <a:ext cx="3352800" cy="2162175"/>
          </a:xfrm>
          <a:prstGeom prst="roundRect">
            <a:avLst>
              <a:gd name="adj" fmla="val 528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19600" y="2819400"/>
            <a:ext cx="3352800" cy="2162175"/>
          </a:xfrm>
          <a:prstGeom prst="roundRect">
            <a:avLst>
              <a:gd name="adj" fmla="val 528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19400"/>
            <a:ext cx="3352800" cy="2162175"/>
          </a:xfrm>
          <a:prstGeom prst="roundRect">
            <a:avLst>
              <a:gd name="adj" fmla="val 528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3209925"/>
            <a:ext cx="257175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125" y="3209925"/>
            <a:ext cx="257175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725" y="3209925"/>
            <a:ext cx="257175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762000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Core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3743325"/>
            <a:ext cx="337542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Layout Independence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4191000"/>
            <a:ext cx="2667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Extract fields without rigid templates.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0125" y="3743325"/>
            <a:ext cx="337542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Semantic Reasoning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0125" y="4191000"/>
            <a:ext cx="2667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Understand context via Generative LLMs.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725" y="3743325"/>
            <a:ext cx="337542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Structured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725" y="4191000"/>
            <a:ext cx="2667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Generate clean JSON for ERP integration.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637" y="2843212"/>
            <a:ext cx="466725" cy="533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5962" y="2733675"/>
            <a:ext cx="600075" cy="533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1962" y="2843212"/>
            <a:ext cx="600075" cy="533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3300" y="4314825"/>
            <a:ext cx="533400" cy="533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4314825"/>
            <a:ext cx="53340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5300" y="4314825"/>
            <a:ext cx="533400" cy="53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285750" y="762000"/>
            <a:ext cx="127635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Space Grotesk"/>
              </a:rPr>
              <a:t>Planned Technology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9962" y="3529012"/>
            <a:ext cx="8858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Space Grotesk"/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00687" y="3419475"/>
            <a:ext cx="11906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0F172A"/>
                </a:solidFill>
                <a:latin typeface="Space Grotesk"/>
              </a:rPr>
              <a:t>Tesseract /</a:t>
            </a:r>
            <a:r>
              <a:t>
</a:t>
            </a:r>
            <a:r>
              <a:rPr b="0" sz="1350" i="0" u="none">
                <a:solidFill>
                  <a:srgbClr val="0F172A"/>
                </a:solidFill>
                <a:latin typeface="Space Grotesk"/>
              </a:rPr>
              <a:t> EasyOCR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67662" y="3529012"/>
            <a:ext cx="11144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Space Grotesk"/>
              </a:rPr>
              <a:t>LayoutLM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2775" y="5000625"/>
            <a:ext cx="16430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Space Grotesk"/>
              </a:rPr>
              <a:t>LLM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91200" y="5000625"/>
            <a:ext cx="8953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Space Grotesk"/>
              </a:rPr>
              <a:t>FastAPI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9100" y="5000625"/>
            <a:ext cx="9715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Space Grotesk"/>
              </a:rPr>
              <a:t>React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476375"/>
            <a:ext cx="10668000" cy="4772025"/>
          </a:xfrm>
          <a:prstGeom prst="roundRect">
            <a:avLst>
              <a:gd name="adj" fmla="val 23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1714500"/>
            <a:ext cx="10191750" cy="42957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09600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Extraction Pipeline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50" y="2676525"/>
            <a:ext cx="123825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475569"/>
                </a:solidFill>
                <a:latin typeface="Inter"/>
              </a:rPr>
              <a:t>Raw PDF /</a:t>
            </a:r>
            <a:r>
              <a:t>
</a:t>
            </a:r>
            <a:r>
              <a:rPr b="1" sz="1050" i="0" u="none">
                <a:solidFill>
                  <a:srgbClr val="475569"/>
                </a:solidFill>
                <a:latin typeface="Inter"/>
              </a:rPr>
              <a:t> 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24150" y="2676525"/>
            <a:ext cx="142875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0369A1"/>
                </a:solidFill>
                <a:latin typeface="Inter"/>
              </a:rPr>
              <a:t>OCR &amp;</a:t>
            </a:r>
            <a:r>
              <a:t>
</a:t>
            </a:r>
            <a:r>
              <a:rPr b="1" sz="1050" i="0" u="none">
                <a:solidFill>
                  <a:srgbClr val="0369A1"/>
                </a:solidFill>
                <a:latin typeface="Inter"/>
              </a:rPr>
              <a:t> Layout Parse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9650" y="2533650"/>
            <a:ext cx="1428750" cy="1238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GenAI 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15150" y="2676525"/>
            <a:ext cx="142875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0891B2"/>
                </a:solidFill>
                <a:latin typeface="Inter"/>
              </a:rPr>
              <a:t>Schema</a:t>
            </a:r>
            <a:r>
              <a:t>
</a:t>
            </a:r>
            <a:r>
              <a:rPr b="1" sz="1050" i="0" u="none">
                <a:solidFill>
                  <a:srgbClr val="0891B2"/>
                </a:solidFill>
                <a:latin typeface="Inter"/>
              </a:rPr>
              <a:t>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0650" y="2771775"/>
            <a:ext cx="12382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Inter"/>
              </a:rPr>
              <a:t>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285750" y="762000"/>
            <a:ext cx="127635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Space Grotesk"/>
              </a:rPr>
              <a:t>Clearance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1295400" y="2314575"/>
            <a:ext cx="96012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50" y="3281362"/>
            <a:ext cx="6096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900" y="3281362"/>
            <a:ext cx="609600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3350" y="3376612"/>
            <a:ext cx="609600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7801" y="3376612"/>
            <a:ext cx="609600" cy="609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3525" y="3471862"/>
            <a:ext cx="17145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9400" y="3471862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9563" y="3567112"/>
            <a:ext cx="257175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72588" y="3567112"/>
            <a:ext cx="200025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9181" y="4119562"/>
            <a:ext cx="110013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1. Ingest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7687" y="4443412"/>
            <a:ext cx="214312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Receive scanned document.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3620" y="4119562"/>
            <a:ext cx="128016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2. 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2137" y="4443412"/>
            <a:ext cx="214312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Deskew and OCR bounding boxes.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3072" y="4214812"/>
            <a:ext cx="125015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3. Extract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8260" y="4538662"/>
            <a:ext cx="20597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LLM entity recognition.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17519" y="4214812"/>
            <a:ext cx="131016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4. 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2007" y="4538662"/>
            <a:ext cx="18811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Apply customs rules.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86475" y="1704975"/>
            <a:ext cx="19050" cy="4391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2152650"/>
            <a:ext cx="471487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715125" y="2152650"/>
            <a:ext cx="471487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400300"/>
            <a:ext cx="142875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790825"/>
            <a:ext cx="219075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181350"/>
            <a:ext cx="17145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25" y="2400300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5125" y="2790825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5125" y="3181350"/>
            <a:ext cx="219075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762000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Dataset &amp; 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704975"/>
            <a:ext cx="5050631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891B2"/>
                </a:solidFill>
                <a:latin typeface="Space Grotesk"/>
              </a:rPr>
              <a:t>Target Documents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5125" y="1704975"/>
            <a:ext cx="5050631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891B2"/>
                </a:solidFill>
                <a:latin typeface="Space Grotesk"/>
              </a:rPr>
              <a:t>Vision Preprocessing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7275" y="2400300"/>
            <a:ext cx="5598318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Commercial Invoices.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475" y="2790825"/>
            <a:ext cx="5522118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Bills of Lading (BoL).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5850" y="3181350"/>
            <a:ext cx="5569743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Detailed Packing Lists.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8025" y="2400300"/>
            <a:ext cx="5133975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Automated deskewing algorithms.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8025" y="2790825"/>
            <a:ext cx="5133975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Adaptive binarization.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181350"/>
            <a:ext cx="5105400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Background noise reduction.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704975"/>
            <a:ext cx="5143500" cy="4391025"/>
          </a:xfrm>
          <a:prstGeom prst="roundRect">
            <a:avLst>
              <a:gd name="adj" fmla="val 260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86500" y="1704975"/>
            <a:ext cx="5143500" cy="4391025"/>
          </a:xfrm>
          <a:prstGeom prst="roundRect">
            <a:avLst>
              <a:gd name="adj" fmla="val 260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1704975"/>
            <a:ext cx="38100" cy="43910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86500" y="1704975"/>
            <a:ext cx="38100" cy="4391025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2085975"/>
            <a:ext cx="3429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2085975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762000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Hybrid AI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2619375"/>
            <a:ext cx="5700712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Vision &amp; Layout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1100" y="3067050"/>
            <a:ext cx="5429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Goal: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Spatial awareness.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1100" y="3419475"/>
            <a:ext cx="4438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Maps text coordinates to preserve the visual hierarchy of complex nested tables.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2619375"/>
            <a:ext cx="548640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Generative Parsing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600" y="3067050"/>
            <a:ext cx="5429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Goal: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Semantic extraction.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5600" y="3419475"/>
            <a:ext cx="4438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LLM interprets key-value pairs regardless of visual placement or varying terminology.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34000" y="0"/>
            <a:ext cx="6858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648075"/>
            <a:ext cx="17145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038600"/>
            <a:ext cx="17145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429125"/>
            <a:ext cx="171450" cy="200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0" y="2228850"/>
            <a:ext cx="6096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Review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0" y="2943225"/>
            <a:ext cx="5429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Human-in-the-loop interface comparing source documents alongside structured AI extractions.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850" y="3648075"/>
            <a:ext cx="5772150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Confidence Scoring.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850" y="4038600"/>
            <a:ext cx="5772150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One-click correction.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850" y="4429125"/>
            <a:ext cx="5772150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Direct ERP export.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704975"/>
            <a:ext cx="5105400" cy="4391025"/>
          </a:xfrm>
          <a:prstGeom prst="roundRect">
            <a:avLst>
              <a:gd name="adj" fmla="val 26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704975"/>
            <a:ext cx="5105400" cy="4391025"/>
          </a:xfrm>
          <a:prstGeom prst="roundRect">
            <a:avLst>
              <a:gd name="adj" fmla="val 26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6086475"/>
            <a:ext cx="5105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1704975"/>
            <a:ext cx="51054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1704975"/>
            <a:ext cx="9525" cy="4391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57875" y="1704975"/>
            <a:ext cx="9525" cy="4391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24600" y="6086475"/>
            <a:ext cx="5105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24600" y="1704975"/>
            <a:ext cx="51054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24600" y="1704975"/>
            <a:ext cx="9525" cy="4391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20475" y="1704975"/>
            <a:ext cx="9525" cy="4391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2705100"/>
            <a:ext cx="142875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3067050"/>
            <a:ext cx="142875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25" y="2705100"/>
            <a:ext cx="142875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25" y="3067050"/>
            <a:ext cx="142875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2000" y="762000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Current Challenges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525" y="2124075"/>
            <a:ext cx="5675709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OCR Limitations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5125" y="2124075"/>
            <a:ext cx="54768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Generative Parsing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2647950"/>
            <a:ext cx="514826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Low DPI Scans: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 Illegible micro-text.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09700" y="3009900"/>
            <a:ext cx="41624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Watermarks: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 Interference with character recognition.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2300" y="2647950"/>
            <a:ext cx="514826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Hallucinations: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 Inventing missing HS codes.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2300" y="3009900"/>
            <a:ext cx="41624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Nested Tables: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 Misalignment of multi-page line items.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11430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Technical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8750"/>
            <a:ext cx="6381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1. Why not use standard Regex rules?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724025"/>
            <a:ext cx="6381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Invoices have infinite layout variations; Regex is too brittle.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219325"/>
            <a:ext cx="6381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2. How to prevent LLM hallucinations on numbers?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514600"/>
            <a:ext cx="5200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Enforce strict JSON schemas and ground extraction via temperature=0.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200400"/>
            <a:ext cx="6381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3. Advantage of LayoutLM over standard OCR?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495675"/>
            <a:ext cx="6381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Embeds spatial coordinates alongside text for 2D visual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600" y="1428750"/>
            <a:ext cx="5867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4. Handling multi-page tables?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0" y="1724025"/>
            <a:ext cx="5200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Chunking by visual separators and merging entity arrays post-extraction.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2409825"/>
            <a:ext cx="5867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5. How do you validate the output?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600" y="2705100"/>
            <a:ext cx="5200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Cross-referencing extracted totals against mathematical sums of line items.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3975" y="4239517"/>
            <a:ext cx="266700" cy="304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362" y="4239517"/>
            <a:ext cx="266700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76722" y="2008882"/>
            <a:ext cx="8438554" cy="676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8FAFC"/>
                </a:solidFill>
                <a:latin typeface="Space Grotesk"/>
              </a:rPr>
              <a:t>Frictionless Global Trade.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8812" y="2989957"/>
            <a:ext cx="8334375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94A3B8"/>
                </a:solidFill>
                <a:latin typeface="Inter"/>
              </a:rPr>
              <a:t>Transforming legacy supply chain documents into structured, actionable intelligence.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67212" y="4658617"/>
            <a:ext cx="22502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Repository: Private / WIP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4637" y="4658617"/>
            <a:ext cx="15001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tmthangaraj1980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477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19250"/>
            <a:ext cx="110490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4479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4479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95462"/>
            <a:ext cx="857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600325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Inter"/>
              </a:rPr>
              <a:t>Image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6875" y="1033462"/>
            <a:ext cx="80843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https://d3lkc3n5th01x7.cloudfront.net/wp-content/uploads/2023/12/28004739/AI-in-Customs-Clearance.png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1233487"/>
            <a:ext cx="279796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www.leewayhertz.com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1762125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https://media.licdn.com/dms/image/D4D12AQExyO-o8F-PMA/article-cover_image-shrink_720_1280/0/1691157956041?e=2147483647&amp;v=beta&amp;t=37yT-F3o3g4oF6H8iR-uH-j1V4nE9V_D_3M190yA8zE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6875" y="2114550"/>
            <a:ext cx="24050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www.linkedin.com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2643187"/>
            <a:ext cx="920353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https://cdn.dribbble.com/userupload/45788503/file/b1676f6d71c218be5825d216432d1398.png?resize=752x&amp;vertical=center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2843212"/>
            <a:ext cx="19526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dribbble.com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