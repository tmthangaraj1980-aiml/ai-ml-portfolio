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Inter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31454753-8969-40b0-88fa-506b41a28632.fntdata" /><ns0:Relationship Id="rIdFont21" Type="http://schemas.openxmlformats.org/officeDocument/2006/relationships/font" Target="fonts/2f65bc15-3808-432f-b38b-0362f0d7cf8b.fntdata" /><ns0:Relationship Id="rIdFont22" Type="http://schemas.openxmlformats.org/officeDocument/2006/relationships/font" Target="fonts/65bd8be8-570c-4932-aa44-f35825655afa.fntdata" /><ns0:Relationship Id="rIdFont23" Type="http://schemas.openxmlformats.org/officeDocument/2006/relationships/font" Target="fonts/33b47c42-fa54-4cee-99a4-864b99d94e6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212" y="4358580"/>
            <a:ext cx="285750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187" y="2270819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COMPUTER VISION &amp; OBJECT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642294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Smart Waste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625155"/>
            <a:ext cx="107156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Real-time multi-class material categorization using YOLO26 Nano.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4184" y="4372867"/>
            <a:ext cx="2821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Local Project (Pre-Release)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0002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Inefficient Sorting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84165"/>
            <a:ext cx="38481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Contamination: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Mixed waste streams ruin recyclable batches.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779490"/>
            <a:ext cx="3219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Bottlenecks: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Human sorting is slow and hazardous.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4815"/>
            <a:ext cx="35242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Ecological Impact: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Missed recovery of biodegradable matter.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19412"/>
            <a:ext cx="3740199" cy="196215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30799" y="2619375"/>
            <a:ext cx="6699200" cy="2562225"/>
          </a:xfrm>
          <a:prstGeom prst="roundRect">
            <a:avLst>
              <a:gd name="adj" fmla="val 44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1324" y="3990975"/>
            <a:ext cx="1362075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97699" y="3990975"/>
            <a:ext cx="108585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97849" y="3990975"/>
            <a:ext cx="714375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26524" y="3990975"/>
            <a:ext cx="70485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45674" y="3990975"/>
            <a:ext cx="72390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1324" y="4448175"/>
            <a:ext cx="781050" cy="3429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309937"/>
            <a:ext cx="2959149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324" y="3009900"/>
            <a:ext cx="591815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Solution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843337"/>
            <a:ext cx="388388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Instant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525" y="4291012"/>
            <a:ext cx="3698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Real-time automated inference.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1324" y="3543300"/>
            <a:ext cx="70706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6-Class Categorization 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3724" y="4067175"/>
            <a:ext cx="11525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Biodegradable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0099" y="4067175"/>
            <a:ext cx="876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Cardboard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0249" y="4067175"/>
            <a:ext cx="50482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Glass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924" y="4067175"/>
            <a:ext cx="495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Metal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8074" y="4067175"/>
            <a:ext cx="5143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3724" y="4524375"/>
            <a:ext cx="57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Plastic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3471862"/>
            <a:ext cx="533400" cy="6096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47186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37661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775" y="3548062"/>
            <a:ext cx="3429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975" y="3548062"/>
            <a:ext cx="3429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2175" y="3548062"/>
            <a:ext cx="40005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Application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8387" y="4233862"/>
            <a:ext cx="9429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5337" y="4233862"/>
            <a:ext cx="9810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7987" y="4138612"/>
            <a:ext cx="12477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Ultralytics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4650" y="4386262"/>
            <a:ext cx="13144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YOLO26 Nano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72537" y="4157662"/>
            <a:ext cx="163115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Space Grotesk"/>
              </a:rPr>
              <a:t>Web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1150" y="2676525"/>
            <a:ext cx="12382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Bounding</a:t>
            </a:r>
            <a:r>
              <a:t>
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 Boxes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6387" y="2971800"/>
            <a:ext cx="1057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HTML/JS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5900" y="3171825"/>
            <a:ext cx="1238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Client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800" y="2971800"/>
            <a:ext cx="933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Inter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687" y="3171825"/>
            <a:ext cx="12096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369A1"/>
                </a:solidFill>
                <a:latin typeface="Inter"/>
              </a:rPr>
              <a:t>REST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96125" y="2933700"/>
            <a:ext cx="1452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YOLO26 Nano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0425" y="3209925"/>
            <a:ext cx="1219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Model Weights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Inference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2314575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328136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900" y="3281362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350" y="3376612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801" y="3281362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4950" y="3471862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3687" y="34718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850" y="3567112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8301" y="347186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9170" y="4119562"/>
            <a:ext cx="128016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1.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687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Receive raw waste image.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4848" y="4119562"/>
            <a:ext cx="163770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2. 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2137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Resize and normalize tensors.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3073" y="4214812"/>
            <a:ext cx="12301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3.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8260" y="4538662"/>
            <a:ext cx="2059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YOLO26 forward pass.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7524" y="4119562"/>
            <a:ext cx="123015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4. 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1038" y="4443412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Draw boxes on frontend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48075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3862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29162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0" y="1928812"/>
            <a:ext cx="6096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Detection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643187"/>
            <a:ext cx="5429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Utilizing Ultralytics YOLO26 Nano architecture for single-stage object detection, optimized for speed and low-compute environments.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850" y="3548062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One-Stage Architecture:</a:t>
            </a:r>
            <a:r>
              <a:rPr b="1" sz="1500" i="0" u="none">
                <a:solidFill>
                  <a:srgbClr val="0891B2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Simultaneous bounding box &amp; class prediction.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850" y="4138612"/>
            <a:ext cx="51054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Nano Variant:</a:t>
            </a:r>
            <a:r>
              <a:rPr b="1" sz="1500" i="0" u="none">
                <a:solidFill>
                  <a:srgbClr val="0891B2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Reduced parameters for real-time edge inference.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850" y="4729162"/>
            <a:ext cx="577215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Augmentation:</a:t>
            </a:r>
            <a:r>
              <a:rPr b="1" sz="1500" i="0" u="none">
                <a:solidFill>
                  <a:srgbClr val="0891B2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Mosaic and mixup training for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67112" y="37052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72187" y="37052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9162" y="37052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285750" y="762000"/>
            <a:ext cx="1276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891B2"/>
                </a:solidFill>
                <a:latin typeface="Space Grotesk"/>
              </a:rPr>
              <a:t>MODEL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85750" y="1114425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Held-Out Test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3705225"/>
            <a:ext cx="2678906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75.8%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3987" y="4619625"/>
            <a:ext cx="21669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Precision (75.85%)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0950" y="3705225"/>
            <a:ext cx="259556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61.6%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9087" y="4619625"/>
            <a:ext cx="1750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Recall (61.67%)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6025" y="3705225"/>
            <a:ext cx="2547937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891B2"/>
                </a:solidFill>
                <a:latin typeface="Space Grotesk"/>
              </a:rPr>
              <a:t>69.1%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619625"/>
            <a:ext cx="21312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mAP@50 (69.14%)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0" y="3705225"/>
            <a:ext cx="2762250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Space Grotesk"/>
              </a:rPr>
              <a:t>48.8%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4912" y="4619625"/>
            <a:ext cx="2607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mAP@50-95 (48.87%)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rgbClr val="0F1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057775"/>
            <a:ext cx="115824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Space Grotesk"/>
              </a:rPr>
              <a:t>Application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791200"/>
            <a:ext cx="7715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2E8F0"/>
                </a:solidFill>
                <a:latin typeface="Inter"/>
              </a:rPr>
              <a:t>HTML/JS frontend consuming FastAPI inference endpoints to visualize bounding boxes and confidence scores in real-time.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05400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704975"/>
            <a:ext cx="5105400" cy="439102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2105025"/>
            <a:ext cx="3048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650" y="210502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2695575"/>
            <a:ext cx="142875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248025"/>
            <a:ext cx="142875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650" y="3800475"/>
            <a:ext cx="142875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Validation &amp;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2638425"/>
            <a:ext cx="44005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Passed exactly </a:t>
            </a:r>
            <a:r>
              <a:rPr b="1" sz="1500" i="0" u="none">
                <a:solidFill>
                  <a:srgbClr val="475569"/>
                </a:solidFill>
                <a:latin typeface="Inter"/>
              </a:rPr>
              <a:t>10 automated application tests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248025"/>
            <a:ext cx="440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API routing, payload validation, and core inference functions verified.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2109787"/>
            <a:ext cx="237529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Testing Success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1850" y="2109787"/>
            <a:ext cx="328791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Real-World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1825" y="2638425"/>
            <a:ext cx="4143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Occlusion: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Overlapping waste causes missed detections.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1825" y="3190875"/>
            <a:ext cx="4143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Lighting Sensitivity: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Shadows misclassify materials.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1825" y="3743325"/>
            <a:ext cx="4143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Class Confusion: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 Transparent plastic vs. glass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Why choose YOLO26 Nano?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Optimizes inference speed for real-time edge deployment constraints.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193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Explain mAP@50?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14600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Mean Average Precision where Intersection over Union (IoU) &gt; 0.50.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0099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How does FastAPI improve this architecture?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305175"/>
            <a:ext cx="6381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Provides async handling and high-throughput REST endpoints.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Precision vs. Recall trade-off here?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High precision ensures sorting purity; low recall means some recyclables are missed.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4098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Mitigation for real-world occlusion?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Requires physical vibratory separation on the belt before camera capture.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5" y="4239517"/>
            <a:ext cx="381000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687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290" y="2008882"/>
            <a:ext cx="11351418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Scalable Vision for Sustainability.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Demonstrating the viability of edge-deployed computer vision in solving physical-world ecological challenges.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3887" y="4658617"/>
            <a:ext cx="2083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Local Deployment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7962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990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8383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828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8288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667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667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00137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14537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52737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990600"/>
            <a:ext cx="100488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mages.unsplash.com/photo-1532996122724-e3c354a0b15b?crop=entropy&amp;cs=tinysrgb&amp;fit=max&amp;fm=jpg&amp;ixid=M3w1ODg1Mjh8MHwxfHNlYXJjaHwyfHxVcmJhbiUyMHdhc3RlJTIwbWFuYWdlbWVudCUyMHBvbGx1dGlvbiUyMHByb2JsZW0lMjBhYnN0cmFjdCUyMHBob3RvfGVufDB8fHx8MTcxOTQwNDQ5MHww&amp;ixlib=rb-4.0.3&amp;q=80&amp;w=1080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495425"/>
            <a:ext cx="1988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unsplash.com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9812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https://media.licdn.com/dms/image/C4D12AQExyO-o8F-PMA/article-cover_image-shrink_720_1280/0/1628172983790?e=2147483647&amp;v=beta&amp;t=37yT-F3o3g4oF6H8iR-uH-j1V4nE9V_D_3M190yA8zE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333625"/>
            <a:ext cx="2405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www.linkedin.com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8194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https://media.licdn.com/dms/image/D4D12AQG44L949Hl1bw/article-cover_image-shrink_720_1280/0/1715694218671?e=2147483647&amp;v=beta&amp;t=p8o-22a4-x6A7R5r1Q7n6lE1QG1Y7T_7k2C0J6t8n4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171825"/>
            <a:ext cx="2405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www.linkedin.com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