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Space Grotesk"/>
      <ns0:bold ns1:id="rIdFont20"/>
      <ns0:regular ns1:id="rIdFont21"/>
    </ns0:embeddedFont>
    <ns0:embeddedFont>
      <ns0:font typeface="Inter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f5921b4d-054b-43d1-8069-105e21d285f3.fntdata" /><ns0:Relationship Id="rIdFont21" Type="http://schemas.openxmlformats.org/officeDocument/2006/relationships/font" Target="fonts/325beb9b-6594-4b22-9bd4-1fe382db31c0.fntdata" /><ns0:Relationship Id="rIdFont22" Type="http://schemas.openxmlformats.org/officeDocument/2006/relationships/font" Target="fonts/928d58f2-ccb3-458a-bd28-dde8a8bdad9c.fntdata" /><ns0:Relationship Id="rIdFont23" Type="http://schemas.openxmlformats.org/officeDocument/2006/relationships/font" Target="fonts/33d688d7-ce0c-4c41-a81a-42413e15486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4496692"/>
            <a:ext cx="219075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8187" y="2132707"/>
            <a:ext cx="10715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891B2"/>
                </a:solidFill>
                <a:latin typeface="Space Grotesk"/>
              </a:rPr>
              <a:t>GEOSPATIAL AI &amp; ENVIRONMENTAL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96" y="2504182"/>
            <a:ext cx="11251406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Space Grotesk"/>
              </a:rPr>
              <a:t>Urban Heat Island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8187" y="3487042"/>
            <a:ext cx="107156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Predictive modeling of Land Surface Temperature (LST) using satellite telemetry and spatial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37346" y="4510980"/>
            <a:ext cx="5488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E2E8F0"/>
                </a:solidFill>
                <a:latin typeface="Inter"/>
              </a:rPr>
              <a:t>github.com/tmthangaraj1980-AIML/Urban_Heat_Island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12740"/>
            <a:ext cx="25717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808065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503390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916459"/>
            <a:ext cx="666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891B2"/>
                </a:solidFill>
                <a:latin typeface="Space Grotesk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30784"/>
            <a:ext cx="7000875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Thermal Inequity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1575" y="3084165"/>
            <a:ext cx="48958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Microclimate Extremes: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Dense concrete traps heat, raising localized temperatures.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779490"/>
            <a:ext cx="441007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Resource Strain: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Exponential spikes in urban AC energy consumption.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74815"/>
            <a:ext cx="43053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Invisible Vulnerability: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City planners lack high-resolution thermal mapping.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05112"/>
            <a:ext cx="335280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805112"/>
            <a:ext cx="335280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05112"/>
            <a:ext cx="335280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986337"/>
            <a:ext cx="335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2805112"/>
            <a:ext cx="3352800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2805112"/>
            <a:ext cx="9525" cy="2190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05275" y="2805112"/>
            <a:ext cx="9525" cy="2190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9600" y="4986337"/>
            <a:ext cx="335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9600" y="2805112"/>
            <a:ext cx="33528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9600" y="2805112"/>
            <a:ext cx="9525" cy="2190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62875" y="2805112"/>
            <a:ext cx="9525" cy="2190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7200" y="4986337"/>
            <a:ext cx="335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2805112"/>
            <a:ext cx="3352800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2805112"/>
            <a:ext cx="9525" cy="2190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20475" y="2805112"/>
            <a:ext cx="9525" cy="2190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224212"/>
            <a:ext cx="257175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3224212"/>
            <a:ext cx="257175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3224212"/>
            <a:ext cx="257175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Solution Objectives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525" y="3757612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Earth Observation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525" y="4205287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Process Landsat/Sentinel multispectral imagery streams.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0125" y="3757612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Index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0125" y="4205287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Calculate NDVI (Vegetation) and NDBI (Built-up) ratios.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725" y="3757612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Spatial Prediction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725" y="4205287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Generate high-resolution predictive thermal heatmaps.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637" y="2843212"/>
            <a:ext cx="466725" cy="533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733675"/>
            <a:ext cx="5334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1962" y="2843212"/>
            <a:ext cx="600075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637" y="4314825"/>
            <a:ext cx="466725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4314825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5300" y="4314825"/>
            <a:ext cx="533400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85750" y="762000"/>
            <a:ext cx="12763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Geospatial 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9962" y="3529012"/>
            <a:ext cx="8858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9725" y="3419475"/>
            <a:ext cx="13525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F172A"/>
                </a:solidFill>
                <a:latin typeface="Space Grotesk"/>
              </a:rPr>
              <a:t>Google Earth</a:t>
            </a:r>
            <a:r>
              <a:t>
</a:t>
            </a:r>
            <a:r>
              <a:rPr b="0" sz="1350" i="0" u="none">
                <a:solidFill>
                  <a:srgbClr val="0F172A"/>
                </a:solidFill>
                <a:latin typeface="Space Grotesk"/>
              </a:rPr>
              <a:t>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0" y="3529012"/>
            <a:ext cx="12001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GeoPandas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1862" y="5000625"/>
            <a:ext cx="9620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Rasterio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1175" y="5000625"/>
            <a:ext cx="1295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Scikit-Learn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5762" y="5000625"/>
            <a:ext cx="10382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Streamlit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476375"/>
            <a:ext cx="10668000" cy="4772025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714500"/>
            <a:ext cx="10191750" cy="4295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Processing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900" y="2676525"/>
            <a:ext cx="12382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Inter"/>
              </a:rPr>
              <a:t>Satellite</a:t>
            </a:r>
            <a:r>
              <a:t>
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5650" y="2676525"/>
            <a:ext cx="14287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369A1"/>
                </a:solidFill>
                <a:latin typeface="Inter"/>
              </a:rPr>
              <a:t>Feature</a:t>
            </a:r>
            <a:r>
              <a:t>
</a:t>
            </a:r>
            <a:r>
              <a:rPr b="1" sz="1050" i="0" u="none">
                <a:solidFill>
                  <a:srgbClr val="0369A1"/>
                </a:solidFill>
                <a:latin typeface="Inter"/>
              </a:rPr>
              <a:t>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76900" y="2533650"/>
            <a:ext cx="1428750" cy="1238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Regression</a:t>
            </a:r>
            <a:r>
              <a:t>
</a:t>
            </a:r>
            <a:r>
              <a:rPr b="1" sz="1200" i="0" u="none">
                <a:solidFill>
                  <a:srgbClr val="0F172A"/>
                </a:solidFill>
                <a:latin typeface="Inter"/>
              </a:rPr>
              <a:t>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58150" y="2676525"/>
            <a:ext cx="14287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891B2"/>
                </a:solidFill>
                <a:latin typeface="Inter"/>
              </a:rPr>
              <a:t>Interactive</a:t>
            </a:r>
            <a:r>
              <a:t>
</a:t>
            </a:r>
            <a:r>
              <a:rPr b="1" sz="1050" i="0" u="none">
                <a:solidFill>
                  <a:srgbClr val="0891B2"/>
                </a:solidFill>
                <a:latin typeface="Inter"/>
              </a:rPr>
              <a:t> LST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285750" y="762000"/>
            <a:ext cx="12763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Geospatial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5400" y="4043362"/>
            <a:ext cx="96012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04950" y="35528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9400" y="35528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73850" y="35528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58301" y="35528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9170" y="3933825"/>
            <a:ext cx="12801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1.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687" y="4229100"/>
            <a:ext cx="21431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Fetch Landsat 8 TIRS/OLI bands.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8614" y="3933825"/>
            <a:ext cx="13701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2. 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2137" y="4229100"/>
            <a:ext cx="21431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Cloud masking and CRS projection.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555" y="3933825"/>
            <a:ext cx="152519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3.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588" y="4229100"/>
            <a:ext cx="21431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Compute NDVI, NDBI, and Albedo.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7518" y="3933825"/>
            <a:ext cx="133016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4.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1038" y="4229100"/>
            <a:ext cx="21431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Predict spatial Land Surface Temp.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86475" y="1704975"/>
            <a:ext cx="19050" cy="439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2152650"/>
            <a:ext cx="4714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15125" y="2152650"/>
            <a:ext cx="4714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00300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90825"/>
            <a:ext cx="12382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81350"/>
            <a:ext cx="23812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2400300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2790825"/>
            <a:ext cx="1428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125" y="3181350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Data Sources &amp; Key Vectors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704975"/>
            <a:ext cx="505063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1704975"/>
            <a:ext cx="505063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Derived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2400300"/>
            <a:ext cx="5550693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Landsat 8 Operational Land Imager.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2790825"/>
            <a:ext cx="5617368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Thermal Infrared Sensor (TIRS) Band 10.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3181350"/>
            <a:ext cx="5503068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OpenStreetMap Building Footprints.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8025" y="2400300"/>
            <a:ext cx="51339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NDVI: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 Normalized Difference Vegetation Index.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2790825"/>
            <a:ext cx="518160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NDBI: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 Normalized Difference Built-up Index.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8025" y="3181350"/>
            <a:ext cx="51339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Albedo: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 Surface solar reflectance ratio.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704975"/>
            <a:ext cx="5143500" cy="4391025"/>
          </a:xfrm>
          <a:prstGeom prst="roundRect">
            <a:avLst>
              <a:gd name="adj" fmla="val 260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1704975"/>
            <a:ext cx="5143500" cy="4391025"/>
          </a:xfrm>
          <a:prstGeom prst="roundRect">
            <a:avLst>
              <a:gd name="adj" fmla="val 260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704975"/>
            <a:ext cx="38100" cy="43910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0" y="1704975"/>
            <a:ext cx="38100" cy="4391025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Predictive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2085975"/>
            <a:ext cx="570071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Regression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609850"/>
            <a:ext cx="542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Algorithm: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Random Forest / XGBoost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2962275"/>
            <a:ext cx="4438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Maps non-linear relationships between spectral indices (NDVI/NDBI) and ground truth temperature arrays.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2085975"/>
            <a:ext cx="54864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Spatial Upsampling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2609850"/>
            <a:ext cx="542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Architecture: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Convolutional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2962275"/>
            <a:ext cx="4438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Enhances 100m thermal band resolution using 30m multispectral bands for granular block-level mapping.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0"/>
            <a:ext cx="790575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26160"/>
            <a:ext cx="190500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141339"/>
            <a:ext cx="3310413" cy="822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Space Grotesk"/>
              </a:rPr>
              <a:t>Interactive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192660"/>
            <a:ext cx="315277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Folium and Streamlit integration projecting LST inference layers directly over interactive city basemaps.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26160"/>
            <a:ext cx="1726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Data Layer: Active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228850"/>
            <a:ext cx="5105400" cy="127635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2350" y="2581275"/>
            <a:ext cx="9525" cy="5715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228850"/>
            <a:ext cx="23812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581275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933700"/>
            <a:ext cx="19050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Results &amp;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04975"/>
            <a:ext cx="670083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Model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1704975"/>
            <a:ext cx="58674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Technical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2228850"/>
            <a:ext cx="54768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Optical occlusion from heavy cloud cover.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0" y="2581275"/>
            <a:ext cx="552450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Low temporal resolution (16-day passes).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2933700"/>
            <a:ext cx="552450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Missing micro-wind fluid dynamic factors.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2543175"/>
            <a:ext cx="216693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3000" i="0" u="none">
                <a:solidFill>
                  <a:srgbClr val="0F172A"/>
                </a:solidFill>
                <a:latin typeface="Space Grotesk"/>
              </a:rPr>
              <a:t>1.2°C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3000375"/>
            <a:ext cx="2166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Root Mean Square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4350" y="2543175"/>
            <a:ext cx="1535906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0" sz="3000" i="0" u="none">
                <a:solidFill>
                  <a:srgbClr val="0F172A"/>
                </a:solidFill>
                <a:latin typeface="Space Grotesk"/>
              </a:rPr>
              <a:t>0.89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4350" y="3000375"/>
            <a:ext cx="15359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R-Squared Score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Technical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8750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1. How is LST derived physically?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24025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Converting Top of Atmosphere (TOA) spectral radiance to brightness temperature, then correcting for surface emissivity.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409825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2. Role of Google Earth Engine?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705100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Cloud-based API allowing petabyte-scale satellite raster computation without local downloads.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90900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3. Handling CRS (Coordinate Reference System) mismatches?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686175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Reprojecting all layers to a unified UTM zone using GeoPandas/Rasterio.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1428750"/>
            <a:ext cx="5867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4. Why use NDVI as a feature?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1724025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Vegetation transpires water, actively cooling surfaces; strong negative correlation with LST.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2409825"/>
            <a:ext cx="5867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5. Explain Spatial Autocorrelation?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2705100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Tobler's First Law: near things are more related. Addressed by spatial cross-validation.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687" y="4239517"/>
            <a:ext cx="295275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337" y="4239517"/>
            <a:ext cx="2667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9036" y="2008882"/>
            <a:ext cx="11413926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Space Grotesk"/>
              </a:rPr>
              <a:t>Mapping the Climate Micro-Front.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2989957"/>
            <a:ext cx="833437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Empowering urban planners with high-fidelity thermal intelligence to deploy targeted green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67237" y="4658617"/>
            <a:ext cx="1750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/Urban_Heat_Island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4612" y="4658617"/>
            <a:ext cx="1500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tmthangaraj1980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76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76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23937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2880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99060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https://earthdata.nasa.gov/s3fs-public/styles/hero_background_745/public/2025-09/ARSET-UrbanHeat-2022-hero.png?VersionId=MYHJ.pzw4CMKCitn1Vibbn5eWhz4nhIU&amp;itok=08ffTUq4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343025"/>
            <a:ext cx="29884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www.earthdata.nasa.gov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71662"/>
            <a:ext cx="6179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https://www.aeologic.com/images/interactive-web-map-for-real-estate-listings.png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71687"/>
            <a:ext cx="2488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www.aeologic.com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