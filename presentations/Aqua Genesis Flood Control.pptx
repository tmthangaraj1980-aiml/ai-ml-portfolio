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9bbf3e1-3b13-4e8a-99ec-84a3e0a7d03e.fntdata" /><ns0:Relationship Id="rIdFont21" Type="http://schemas.openxmlformats.org/officeDocument/2006/relationships/font" Target="fonts/e009f5e4-1ddc-4d37-a22a-0f304d3476ed.fntdata" /><ns0:Relationship Id="rIdFont22" Type="http://schemas.openxmlformats.org/officeDocument/2006/relationships/font" Target="fonts/c30d1596-e507-4139-ba9d-177eaf5995b0.fntdata" /><ns0:Relationship Id="rIdFont23" Type="http://schemas.openxmlformats.org/officeDocument/2006/relationships/font" Target="fonts/edbbc19f-e9e0-48aa-93b0-958ab68f3ca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4358580"/>
            <a:ext cx="2190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270819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AGENTIC AI, GIS &amp;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642294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Aqua 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625155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Autonomous flood mitigation via real-time hydrologic digital twins.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706" y="4372867"/>
            <a:ext cx="583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github.com/tmthangaraj1980-AIML/Aqua_Genesis_project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Reactive Hydrology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3084165"/>
            <a:ext cx="42576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Delayed Response: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Manual gate control during flash floods is too slow.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779490"/>
            <a:ext cx="42005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Static Mapping: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Historical flood maps fail in dynamic storm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4815"/>
            <a:ext cx="48577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Complex Physics: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Non-linear water flow exceeds human predictive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5112"/>
            <a:ext cx="33528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805112"/>
            <a:ext cx="3352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96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9600" y="2805112"/>
            <a:ext cx="335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96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628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4986337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805112"/>
            <a:ext cx="3352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20475" y="2805112"/>
            <a:ext cx="9525" cy="2190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24212"/>
            <a:ext cx="257175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24212"/>
            <a:ext cx="257175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224212"/>
            <a:ext cx="257175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System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GIS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Injest high-resolution DEM and live sensor streams.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01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1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Real-time fluid dynamic simulation of urban topology.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757612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Agentic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725" y="4205287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Autonomous RL agents recommending mitigation 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843212"/>
            <a:ext cx="46672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843212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962" y="2843212"/>
            <a:ext cx="600075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962" y="4205287"/>
            <a:ext cx="600075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5" y="4205287"/>
            <a:ext cx="66675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4205287"/>
            <a:ext cx="66675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9962" y="3529012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12" y="3529012"/>
            <a:ext cx="695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RLlib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6225" y="3529012"/>
            <a:ext cx="1257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QGIS / GDAL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4891087"/>
            <a:ext cx="1428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Hydro-Engine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4891087"/>
            <a:ext cx="1047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IoT MQTT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0" y="4891087"/>
            <a:ext cx="857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Twin &amp;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8681" y="2676525"/>
            <a:ext cx="1785937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IoT / Weather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2431" y="2676525"/>
            <a:ext cx="1785937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Actuators / UI</a:t>
            </a:r>
            <a:r>
              <a:t>
</a:t>
            </a:r>
            <a:r>
              <a:rPr b="1" sz="1050" i="0" u="none">
                <a:solidFill>
                  <a:srgbClr val="0891B2"/>
                </a:solidFill>
                <a:latin typeface="Inter"/>
              </a:rPr>
              <a:t>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2931" y="1628775"/>
            <a:ext cx="178593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0891B2"/>
                </a:solidFill>
                <a:latin typeface="Inter"/>
              </a:rPr>
              <a:t>State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6637" y="2967037"/>
            <a:ext cx="1152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369A1"/>
                </a:solidFill>
                <a:latin typeface="Inter"/>
              </a:rPr>
              <a:t>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9487" y="3195637"/>
            <a:ext cx="1266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369A1"/>
                </a:solidFill>
                <a:latin typeface="Inter"/>
              </a:rPr>
              <a:t>(GIS Environment)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8375" y="2967037"/>
            <a:ext cx="9715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RL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750" y="3195637"/>
            <a:ext cx="10668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F172A"/>
                </a:solidFill>
                <a:latin typeface="Inter"/>
              </a:rPr>
              <a:t>(Action Policy)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Autonomous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2314575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37661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00" y="337661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350" y="328136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801" y="328136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0" y="35671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400" y="356711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850" y="347186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2588" y="3471862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4183" y="4214812"/>
            <a:ext cx="107013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1. 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546" y="4538662"/>
            <a:ext cx="2107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Ingest IoT river gauges.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2340" y="4214812"/>
            <a:ext cx="176272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2. Synchronize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575" y="4538662"/>
            <a:ext cx="2000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Update 3D Twin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3076" y="4119562"/>
            <a:ext cx="11901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3.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588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Agent selects gate 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7519" y="4119562"/>
            <a:ext cx="131016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4. Actuate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1038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Dispatch hardware command.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52650"/>
            <a:ext cx="5029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152650"/>
            <a:ext cx="5029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4587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33687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52787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1458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336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25278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Data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704975"/>
            <a:ext cx="53806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Spatial &amp; Temporal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04975"/>
            <a:ext cx="53806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Environment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4003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High-Res DEM (Digital Elevation).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28194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Live rainfall intensity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3238500"/>
            <a:ext cx="475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Sewer capacity network nodes.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24003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Spatial interpolation of missing telemetry.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28194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Resolution matching across raster layers.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32385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State normalization for RL convergence.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5625"/>
            <a:ext cx="340355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00375"/>
            <a:ext cx="340355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95625"/>
            <a:ext cx="340355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Agentic AI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486150"/>
            <a:ext cx="344203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State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933825"/>
            <a:ext cx="2717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Water depth matrix, gate positions, and impending rainfall vectors.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4675" y="3390900"/>
            <a:ext cx="344203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Action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4675" y="3838575"/>
            <a:ext cx="271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Continuous/discrete variables governing reservoir valve flow rates.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6825" y="3486150"/>
            <a:ext cx="344203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Reward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6825" y="3933825"/>
            <a:ext cx="2717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Penalty for flooded urban cells; penalty for excessive gate toggling.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0575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90575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75" y="4397573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24875" y="2269926"/>
            <a:ext cx="3310413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Space Grotesk"/>
              </a:rPr>
              <a:t>Digital Twin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24875" y="3321248"/>
            <a:ext cx="31527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Real-time 3D overlay mapping the Agent's simulated water routing decisions against city topology.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9675" y="4397573"/>
            <a:ext cx="1631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Simulation 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1857375"/>
            <a:ext cx="9525" cy="4238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Challenges &amp; Realities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57375"/>
            <a:ext cx="63945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Sim2Real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1857375"/>
            <a:ext cx="56340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Compute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Friction Coefficients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Urban debris dynamically alters real-world water flow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05150"/>
            <a:ext cx="49672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Action Latency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Physical dam gates take minutes to actuate, unlike instant simulation.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3812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Navier-Stokes Complexity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Full hydrodynamic solving is too slow for RL training loops.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105150"/>
            <a:ext cx="49672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Mitigation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Relying on simplified cellular automata for rapid state approximation.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What defines Agentic AI here vs Standard 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Standard ML predicts floods; Agentic AI takes actions to prevent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193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Purpose of the Digital Twin?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46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Provides a safe, accelerated, physics-based environment for RL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004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Why Reinforcement Learning over hardcoded rules?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9567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Handles unprecedented edge-cases and non-linear interactions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How do you handle Sim2Real gap?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867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Domain randomization in training (varying friction and sensor noise).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2193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Addressing safety constraints?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5146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Implementing constrained RL paradigms where dangerous actions trigger massive penalties.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4239517"/>
            <a:ext cx="295275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637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085" y="2008882"/>
            <a:ext cx="11959828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Proactive Cyber-Physical Resilience.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Aqua Genesis merges physical infrastructure with agentic intelligence to defend tomorrow's 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937" y="4658617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/Aqua_Genesis_project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8912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7643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https://media.cnn.com/api/v1/images/stellar/prod/ap24122119934162.jpg?c=16x9&amp;q=h_833,w_1480,c_fill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035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www.cnn.com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https://media.licdn.com/dms/image/D4E12AQH8099oN83vFw/article-cover_image-shrink_720_1280/0/1681273934305?e=2147483647&amp;v=beta&amp;t=q70C0fHhA2pZ9xR3c4gN5i1K-jL0t9Y_b9D2M1pG1sA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14550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www.linkedin.com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