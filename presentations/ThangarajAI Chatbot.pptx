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Space Grotesk"/>
      <ns0:bold ns1:id="rIdFont20"/>
      <ns0:regular ns1:id="rIdFont21"/>
    </ns0:embeddedFont>
    <ns0:embeddedFont>
      <ns0:font typeface="Inter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23054330-3c40-4f4b-8dd2-d1e0ebf0f323.fntdata" /><ns0:Relationship Id="rIdFont21" Type="http://schemas.openxmlformats.org/officeDocument/2006/relationships/font" Target="fonts/3f7130df-f593-46cb-a030-2211b199d992.fntdata" /><ns0:Relationship Id="rIdFont22" Type="http://schemas.openxmlformats.org/officeDocument/2006/relationships/font" Target="fonts/c5b865e4-0bc9-4547-9744-347851eb4b06.fntdata" /><ns0:Relationship Id="rIdFont23" Type="http://schemas.openxmlformats.org/officeDocument/2006/relationships/font" Target="fonts/2fc6177c-9c53-43ac-b6b1-9353913ac6e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4358580"/>
            <a:ext cx="219075" cy="228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8187" y="2270819"/>
            <a:ext cx="107156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891B2"/>
                </a:solidFill>
                <a:latin typeface="Space Grotesk"/>
              </a:rPr>
              <a:t>GENERATIVE AI &amp; CONVERSATIONAL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296" y="2642294"/>
            <a:ext cx="11251406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Space Grotesk"/>
              </a:rPr>
              <a:t>ThangarajAI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8187" y="3625155"/>
            <a:ext cx="1071562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AI-powered learning platform with hybrid FAQ retrieval and Gemini fallback.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0096" y="4372867"/>
            <a:ext cx="7203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E2E8F0"/>
                </a:solidFill>
                <a:latin typeface="Inter"/>
              </a:rPr>
              <a:t>github.com/tmthangaraj1980-AIML/AI-PROJECTS/ThangarajAI_Chatbot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112740"/>
            <a:ext cx="2286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808065"/>
            <a:ext cx="25717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503390"/>
            <a:ext cx="28575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916459"/>
            <a:ext cx="6667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891B2"/>
                </a:solidFill>
                <a:latin typeface="Space Grotesk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230784"/>
            <a:ext cx="7000875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Interview Prep Friction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84165"/>
            <a:ext cx="4619625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Scattered Knowledge: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AI/ML concepts are fragmented across documentation.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1575" y="3779490"/>
            <a:ext cx="3971925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Slow Retrieval: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Searching manuals wastes valuable study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50" y="4474815"/>
            <a:ext cx="4143375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Static Repositories: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Pre-written FAQs fail on unmapped edge queries.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19400"/>
            <a:ext cx="3352800" cy="2162175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2819400"/>
            <a:ext cx="3352800" cy="2162175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19387"/>
            <a:ext cx="3352800" cy="23622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209925"/>
            <a:ext cx="257175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5" y="3209925"/>
            <a:ext cx="257175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725" y="3109912"/>
            <a:ext cx="257175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Core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743325"/>
            <a:ext cx="33754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Curated 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191000"/>
            <a:ext cx="266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500+ AI/ML interview questions natively mapped.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0125" y="3743325"/>
            <a:ext cx="33754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Intelligent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0125" y="4191000"/>
            <a:ext cx="266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Similarity thresholds matching user intent to FAQs.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725" y="3643312"/>
            <a:ext cx="33754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Gemini 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725" y="4090987"/>
            <a:ext cx="2667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Real-time generative generation for unknown queries.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637" y="2733675"/>
            <a:ext cx="466725" cy="533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733675"/>
            <a:ext cx="533400" cy="533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0" y="2733675"/>
            <a:ext cx="533400" cy="53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6625" y="4205287"/>
            <a:ext cx="66675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4095750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1962" y="4205287"/>
            <a:ext cx="600075" cy="53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285750" y="762000"/>
            <a:ext cx="12763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9962" y="3419475"/>
            <a:ext cx="8858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9762" y="3419475"/>
            <a:ext cx="10382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Streamlit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1962" y="3419475"/>
            <a:ext cx="8858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Pandas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350" y="4891087"/>
            <a:ext cx="781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Difflib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0" y="4781550"/>
            <a:ext cx="1143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F172A"/>
                </a:solidFill>
                <a:latin typeface="Space Grotesk"/>
              </a:rPr>
              <a:t>Gemini 2.5</a:t>
            </a:r>
            <a:r>
              <a:t>
</a:t>
            </a:r>
            <a:r>
              <a:rPr b="0" sz="1350" i="0" u="none">
                <a:solidFill>
                  <a:srgbClr val="0F172A"/>
                </a:solidFill>
                <a:latin typeface="Space Grotesk"/>
              </a:rPr>
              <a:t> 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9075" y="4891087"/>
            <a:ext cx="13716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Transformers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476375"/>
            <a:ext cx="10668000" cy="4772025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714500"/>
            <a:ext cx="10191750" cy="4295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096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" y="2676525"/>
            <a:ext cx="123825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Inter"/>
              </a:rPr>
              <a:t>User</a:t>
            </a:r>
            <a:r>
              <a:t>
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0650" y="2771775"/>
            <a:ext cx="1238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19412" y="2981325"/>
            <a:ext cx="10382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369A1"/>
                </a:solidFill>
                <a:latin typeface="Inter"/>
              </a:rPr>
              <a:t>Streamlit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0837" y="3181350"/>
            <a:ext cx="10953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0369A1"/>
                </a:solidFill>
                <a:latin typeface="Inter"/>
              </a:rPr>
              <a:t>(Session State)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6837" y="2967037"/>
            <a:ext cx="714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Difflib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86325" y="3195637"/>
            <a:ext cx="12954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0F172A"/>
                </a:solidFill>
                <a:latin typeface="Inter"/>
              </a:rPr>
              <a:t>(Similarity Search)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7562" y="2990850"/>
            <a:ext cx="9239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891B2"/>
                </a:solidFill>
                <a:latin typeface="Inter"/>
              </a:rPr>
              <a:t>FAQ CSV 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9462" y="3152775"/>
            <a:ext cx="1000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891B2"/>
                </a:solidFill>
                <a:latin typeface="Inter"/>
              </a:rPr>
              <a:t>Gemini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285750" y="762000"/>
            <a:ext cx="12763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Inference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1295400" y="4043362"/>
            <a:ext cx="96012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6850" y="35147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51300" y="35147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35750" y="35147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420201" y="35147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4190" y="3971925"/>
            <a:ext cx="9501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1. 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687" y="4267200"/>
            <a:ext cx="21431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Strip bullets and lowercase query.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8634" y="3971925"/>
            <a:ext cx="10501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2. 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2137" y="4267200"/>
            <a:ext cx="21431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Evaluate string similarity cutoff.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3087" y="3971925"/>
            <a:ext cx="101012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3.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588" y="4267200"/>
            <a:ext cx="21431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Query Dataset or call Gemini.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22532" y="3971925"/>
            <a:ext cx="11001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4. Render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1038" y="4267200"/>
            <a:ext cx="21431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Streamlit chat output generation.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86475" y="1704975"/>
            <a:ext cx="19050" cy="439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2152650"/>
            <a:ext cx="47148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15125" y="2152650"/>
            <a:ext cx="47148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00300"/>
            <a:ext cx="238125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790825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181350"/>
            <a:ext cx="238125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2400300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25" y="2790825"/>
            <a:ext cx="2190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125" y="3181350"/>
            <a:ext cx="17145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Domains &amp; Data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704975"/>
            <a:ext cx="5050631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891B2"/>
                </a:solidFill>
                <a:latin typeface="Space Grotesk"/>
              </a:rPr>
              <a:t>Knowledge Domains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1704975"/>
            <a:ext cx="5050631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891B2"/>
                </a:solidFill>
                <a:latin typeface="Space Grotesk"/>
              </a:rPr>
              <a:t>Dataset Mechanics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525" y="2400300"/>
            <a:ext cx="5503068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Python &amp; Data Science.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2790825"/>
            <a:ext cx="5550693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Machine Learning &amp; NLP.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525" y="3181350"/>
            <a:ext cx="5503068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Deep Learning &amp; Generative AI.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8025" y="2400300"/>
            <a:ext cx="51339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500+ curated FAQ rows loaded via Pandas.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790825"/>
            <a:ext cx="510540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Lowercase structural normalization mapping.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8975" y="3181350"/>
            <a:ext cx="515302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O(1) exact match lookup prioritization.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704975"/>
            <a:ext cx="5143500" cy="4391025"/>
          </a:xfrm>
          <a:prstGeom prst="roundRect">
            <a:avLst>
              <a:gd name="adj" fmla="val 260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1704975"/>
            <a:ext cx="5143500" cy="4391025"/>
          </a:xfrm>
          <a:prstGeom prst="roundRect">
            <a:avLst>
              <a:gd name="adj" fmla="val 260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704975"/>
            <a:ext cx="38100" cy="43910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6500" y="1704975"/>
            <a:ext cx="38100" cy="4391025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Hybrid Retrieval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2085975"/>
            <a:ext cx="570071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String Similarity Lookup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2609850"/>
            <a:ext cx="5429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Difflib SequenceMatcher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2962275"/>
            <a:ext cx="4438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Evaluates string similarity with a strict 0.75+ cutoff threshold to guarantee high-accuracy local dataset retrieval.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2085975"/>
            <a:ext cx="54864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Generative Fallback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2609850"/>
            <a:ext cx="5429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Gemini 2.5 Flash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2962275"/>
            <a:ext cx="4438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Handles out-of-scope questions by generating dynamic responses securely via environment-injected API keys.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0" y="0"/>
            <a:ext cx="6858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648075"/>
            <a:ext cx="1714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038600"/>
            <a:ext cx="1714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429125"/>
            <a:ext cx="171450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0" y="2228850"/>
            <a:ext cx="6096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User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2943225"/>
            <a:ext cx="5429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Interactive learning dashboard built completely in Streamlit using conversational UI elements.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850" y="3648075"/>
            <a:ext cx="577215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Streamlit chat_input element.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850" y="4038600"/>
            <a:ext cx="577215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Dataset metrics header display.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850" y="4429125"/>
            <a:ext cx="577215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Topic outline sidebar.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704975"/>
            <a:ext cx="5105400" cy="4391025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704975"/>
            <a:ext cx="5105400" cy="4391025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6086475"/>
            <a:ext cx="5105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704975"/>
            <a:ext cx="5105400" cy="381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1704975"/>
            <a:ext cx="9525" cy="439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57875" y="1704975"/>
            <a:ext cx="9525" cy="439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4600" y="6086475"/>
            <a:ext cx="5105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24600" y="1704975"/>
            <a:ext cx="51054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4600" y="1704975"/>
            <a:ext cx="9525" cy="439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20475" y="1704975"/>
            <a:ext cx="9525" cy="439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705100"/>
            <a:ext cx="142875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067050"/>
            <a:ext cx="142875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5" y="2705100"/>
            <a:ext cx="142875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5" y="3257550"/>
            <a:ext cx="142875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Future 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525" y="2124075"/>
            <a:ext cx="567570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Enhanced Interactions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5125" y="2124075"/>
            <a:ext cx="54768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Advanced Integrations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2647950"/>
            <a:ext cx="51482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Voice Input: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 Expanding accessibility for learners.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9700" y="3009900"/>
            <a:ext cx="41624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AI Mock Interviews: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 Simulating real-time pressure tests.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2300" y="2647950"/>
            <a:ext cx="41624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RAG Architecture: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 Integration of full PDF knowledge bases.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2300" y="3200400"/>
            <a:ext cx="41624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Resume Parsing: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 Tailoring interview questions to specific CVs.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Technical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8750"/>
            <a:ext cx="6381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1. Why use Difflib over Vector Search?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724025"/>
            <a:ext cx="520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Lightweight, zero-latency string matching ideal for exact interview FAQ lookups.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409825"/>
            <a:ext cx="6381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2. How is the fallback triggered?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705100"/>
            <a:ext cx="520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If the get_close_matches similarity score falls below 0.75, the query routes to Gemini.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390900"/>
            <a:ext cx="6381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3. State management in Streamlit?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686175"/>
            <a:ext cx="520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Session_state explicitly preserves the current_question and current_response across UI renders.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1428750"/>
            <a:ext cx="5867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4. How are user inputs normalized?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1724025"/>
            <a:ext cx="520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Bullet points and hyphens are stripped, and text is lowercased prior to dictionary lookup.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2409825"/>
            <a:ext cx="5867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5. Security approach for Gemini API?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2705100"/>
            <a:ext cx="520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Loaded securely via os.getenv() to prevent hardcoding keys in public GitHub repositories.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687" y="4239517"/>
            <a:ext cx="295275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412" y="4239517"/>
            <a:ext cx="2667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39130" y="2008882"/>
            <a:ext cx="9913739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Space Grotesk"/>
              </a:rPr>
              <a:t>ThangarajAI - Knowledge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8812" y="2989957"/>
            <a:ext cx="8334375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Bridging the gap between static dataset retrieval and generative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7162" y="4658617"/>
            <a:ext cx="3250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/AI-PROJECTS/ThangarajAI_Chatbot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24687" y="4658617"/>
            <a:ext cx="1500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tmthangaraj1980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212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Inter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3462"/>
            <a:ext cx="8096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https://files.smashing.media/articles/designing-ai-beyond-conversational-interfaces/9-abstraction-rolebot.gif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3487"/>
            <a:ext cx="3429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www.smashingmagazine.com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4987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https://cdn.dribbble.com/userupload/15008698/file/original-59cd89b153b55320f0c8719207ce5c31.jpg?format=webp&amp;resize=400x300&amp;vertical=center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5012"/>
            <a:ext cx="1952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dribbble.com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