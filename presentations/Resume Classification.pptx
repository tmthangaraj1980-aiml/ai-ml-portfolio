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</ns0:sldIdLst>
  <ns0:sldSz cx="12192000" cy="6858000" type="screen4x3"/>
  <ns0:notesSz cx="6858000" cy="9144000"/>
  <ns0:embeddedFontLst>
    <ns0:embeddedFont>
      <ns0:font typeface="Inter"/>
      <ns0:bold ns1:id="rIdFont20"/>
      <ns0:regular ns1:id="rIdFont21"/>
    </ns0:embeddedFont>
    <ns0:embeddedFont>
      <ns0:font typeface="Space Grotesk"/>
      <ns0:bold ns1:id="rIdFont22"/>
      <ns0:regular ns1:id="rIdFont23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Font20" Type="http://schemas.openxmlformats.org/officeDocument/2006/relationships/font" Target="fonts/38d8c907-0c68-4cc0-ae6c-da1ad2bc210d.fntdata" /><ns0:Relationship Id="rIdFont21" Type="http://schemas.openxmlformats.org/officeDocument/2006/relationships/font" Target="fonts/6c4a66fc-2255-4a97-b304-539d4d7d0591.fntdata" /><ns0:Relationship Id="rIdFont22" Type="http://schemas.openxmlformats.org/officeDocument/2006/relationships/font" Target="fonts/a779f648-2c51-43e1-a606-022216d17773.fntdata" /><ns0:Relationship Id="rIdFont23" Type="http://schemas.openxmlformats.org/officeDocument/2006/relationships/font" Target="fonts/1430c2d9-de81-4692-8f09-ca95fdc21250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7" Type="http://schemas.openxmlformats.org/officeDocument/2006/relationships/image" Target="../media/image1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0987" y="4496692"/>
            <a:ext cx="219075" cy="228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38187" y="2132707"/>
            <a:ext cx="107156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0891B2"/>
                </a:solidFill>
                <a:latin typeface="Space Grotesk"/>
              </a:rPr>
              <a:t>NLP &amp;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0296" y="2504182"/>
            <a:ext cx="11251406" cy="7542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b="1" sz="5400" i="0" u="none">
                <a:solidFill>
                  <a:srgbClr val="F8FAFC"/>
                </a:solidFill>
                <a:latin typeface="Space Grotesk"/>
              </a:rPr>
              <a:t>Resume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8187" y="3487042"/>
            <a:ext cx="10715625" cy="5524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800" i="0" u="none">
                <a:solidFill>
                  <a:srgbClr val="94A3B8"/>
                </a:solidFill>
                <a:latin typeface="Inter"/>
              </a:rPr>
              <a:t>Automated talent screening and role categorization using Natural Language Processing.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07643" y="4510980"/>
            <a:ext cx="4548187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350" i="0" u="none">
                <a:solidFill>
                  <a:srgbClr val="E2E8F0"/>
                </a:solidFill>
                <a:latin typeface="Inter"/>
              </a:rPr>
              <a:t>Search Repositories / tmthangaraj1980-AIML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0"/>
            <a:ext cx="5334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0"/>
            <a:ext cx="5334000" cy="685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112740"/>
            <a:ext cx="228600" cy="2476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3808065"/>
            <a:ext cx="285750" cy="24765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4503390"/>
            <a:ext cx="228600" cy="2476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1916459"/>
            <a:ext cx="6667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891B2"/>
                </a:solidFill>
                <a:latin typeface="Space Grotesk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2230784"/>
            <a:ext cx="7000875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Space Grotesk"/>
              </a:rPr>
              <a:t>The HR Bottleneck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084165"/>
            <a:ext cx="4210050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Manual Screening:</a:t>
            </a:r>
            <a:r>
              <a:rPr b="1" sz="1500" i="0" u="none">
                <a:solidFill>
                  <a:srgbClr val="0F172A"/>
                </a:solidFill>
                <a:latin typeface="Inter"/>
              </a:rPr>
              <a:t> </a:t>
            </a:r>
            <a:r>
              <a:rPr b="1" sz="1350" i="0" u="none">
                <a:solidFill>
                  <a:srgbClr val="475569"/>
                </a:solidFill>
                <a:latin typeface="Inter"/>
              </a:rPr>
              <a:t>Recruiters spend hours parsing unstructured text.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0150" y="3779490"/>
            <a:ext cx="4114800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Human Bias:</a:t>
            </a:r>
            <a:r>
              <a:rPr b="1" sz="1500" i="0" u="none">
                <a:solidFill>
                  <a:srgbClr val="0F172A"/>
                </a:solidFill>
                <a:latin typeface="Inter"/>
              </a:rPr>
              <a:t> </a:t>
            </a:r>
            <a:r>
              <a:rPr b="1" sz="1350" i="0" u="none">
                <a:solidFill>
                  <a:srgbClr val="475569"/>
                </a:solidFill>
                <a:latin typeface="Inter"/>
              </a:rPr>
              <a:t>Inconsistent evaluation criteria across reviewers.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474815"/>
            <a:ext cx="4457700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Format Chaos:</a:t>
            </a:r>
            <a:r>
              <a:rPr b="1" sz="1500" i="0" u="none">
                <a:solidFill>
                  <a:srgbClr val="0F172A"/>
                </a:solidFill>
                <a:latin typeface="Inter"/>
              </a:rPr>
              <a:t> </a:t>
            </a:r>
            <a:r>
              <a:rPr b="1" sz="1350" i="0" u="none">
                <a:solidFill>
                  <a:srgbClr val="475569"/>
                </a:solidFill>
                <a:latin typeface="Inter"/>
              </a:rPr>
              <a:t>Infinite variations in layout, vocabulary, and file types.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2819400"/>
            <a:ext cx="3352800" cy="2162175"/>
          </a:xfrm>
          <a:prstGeom prst="roundRect">
            <a:avLst>
              <a:gd name="adj" fmla="val 528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419600" y="2819400"/>
            <a:ext cx="3352800" cy="2162175"/>
          </a:xfrm>
          <a:prstGeom prst="roundRect">
            <a:avLst>
              <a:gd name="adj" fmla="val 528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2819400"/>
            <a:ext cx="3352800" cy="2162175"/>
          </a:xfrm>
          <a:prstGeom prst="roundRect">
            <a:avLst>
              <a:gd name="adj" fmla="val 528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525" y="3209925"/>
            <a:ext cx="2571750" cy="3048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0125" y="3209925"/>
            <a:ext cx="2571750" cy="3048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7725" y="3209925"/>
            <a:ext cx="257175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762000"/>
            <a:ext cx="114300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System 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525" y="3743325"/>
            <a:ext cx="3375421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Text Extraction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525" y="4191000"/>
            <a:ext cx="2667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Robust parsing of raw PDFs and DOCX files.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10125" y="3743325"/>
            <a:ext cx="3375421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NLP Cleaning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10125" y="4191000"/>
            <a:ext cx="2667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Lemmatization, stop-word removal, and tokenization.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67725" y="3743325"/>
            <a:ext cx="3375421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Role Classification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67725" y="4191000"/>
            <a:ext cx="2667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Inter"/>
              </a:rPr>
              <a:t>Map unstructured text to predefined job categories.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6637" y="2843212"/>
            <a:ext cx="466725" cy="5334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2625" y="2843212"/>
            <a:ext cx="666750" cy="533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5300" y="2843212"/>
            <a:ext cx="533400" cy="533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3300" y="4205287"/>
            <a:ext cx="533400" cy="533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29300" y="4205287"/>
            <a:ext cx="533400" cy="5334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8625" y="4205287"/>
            <a:ext cx="666750" cy="5334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-285750" y="762000"/>
            <a:ext cx="127635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000" i="0" u="none">
                <a:solidFill>
                  <a:srgbClr val="0F172A"/>
                </a:solidFill>
                <a:latin typeface="Space Grotesk"/>
              </a:rPr>
              <a:t>NLP Stack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09962" y="3529012"/>
            <a:ext cx="8858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Space Grotesk"/>
              </a:rPr>
              <a:t>Python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57837" y="3529012"/>
            <a:ext cx="13620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Space Grotesk"/>
              </a:rPr>
              <a:t>spaCy / NLTK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77175" y="3529012"/>
            <a:ext cx="12954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Space Grotesk"/>
              </a:rPr>
              <a:t>Scikit-Learn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5675" y="4891087"/>
            <a:ext cx="9144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Space Grotesk"/>
              </a:rPr>
              <a:t>PyPDF2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95962" y="4891087"/>
            <a:ext cx="88582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Space Grotesk"/>
              </a:rPr>
              <a:t>Pandas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29587" y="4891087"/>
            <a:ext cx="7905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0F172A"/>
                </a:solidFill>
                <a:latin typeface="Space Grotesk"/>
              </a:rPr>
              <a:t>Regex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1476375"/>
            <a:ext cx="10668000" cy="4772025"/>
          </a:xfrm>
          <a:prstGeom prst="roundRect">
            <a:avLst>
              <a:gd name="adj" fmla="val 2395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1714500"/>
            <a:ext cx="10191750" cy="42957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62000" y="609600"/>
            <a:ext cx="114300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Classification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676525"/>
            <a:ext cx="1428750" cy="952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475569"/>
                </a:solidFill>
                <a:latin typeface="Inter"/>
              </a:rPr>
              <a:t>Raw Resume</a:t>
            </a:r>
            <a:r>
              <a:t>
</a:t>
            </a:r>
            <a:r>
              <a:rPr b="1" sz="1050" i="0" u="none">
                <a:solidFill>
                  <a:srgbClr val="475569"/>
                </a:solidFill>
                <a:latin typeface="Inter"/>
              </a:rPr>
              <a:t> Corpus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09900" y="2676525"/>
            <a:ext cx="1428750" cy="952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0369A1"/>
                </a:solidFill>
                <a:latin typeface="Inter"/>
              </a:rPr>
              <a:t>Text Cleaning</a:t>
            </a:r>
            <a:r>
              <a:t>
</a:t>
            </a:r>
            <a:r>
              <a:rPr b="1" sz="1050" i="0" u="none">
                <a:solidFill>
                  <a:srgbClr val="0369A1"/>
                </a:solidFill>
                <a:latin typeface="Inter"/>
              </a:rPr>
              <a:t> &amp; Tokenization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05400" y="2533650"/>
            <a:ext cx="1428750" cy="12382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200" i="0" u="none">
                <a:solidFill>
                  <a:srgbClr val="0F172A"/>
                </a:solidFill>
                <a:latin typeface="Inter"/>
              </a:rPr>
              <a:t>TF-IDF</a:t>
            </a:r>
            <a:r>
              <a:t>
</a:t>
            </a:r>
            <a:r>
              <a:rPr b="1" sz="1200" i="0" u="none">
                <a:solidFill>
                  <a:srgbClr val="0F172A"/>
                </a:solidFill>
                <a:latin typeface="Inter"/>
              </a:rPr>
              <a:t> Vectorizer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900" y="2676525"/>
            <a:ext cx="1428750" cy="952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0891B2"/>
                </a:solidFill>
                <a:latin typeface="Inter"/>
              </a:rPr>
              <a:t>ML Classifier</a:t>
            </a:r>
            <a:r>
              <a:t>
</a:t>
            </a:r>
            <a:r>
              <a:rPr b="1" sz="1050" i="0" u="none">
                <a:solidFill>
                  <a:srgbClr val="0891B2"/>
                </a:solidFill>
                <a:latin typeface="Inter"/>
              </a:rPr>
              <a:t>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10650" y="2771775"/>
            <a:ext cx="1047750" cy="76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b="1" sz="1050" i="0" u="none">
                <a:solidFill>
                  <a:srgbClr val="0F172A"/>
                </a:solidFill>
                <a:latin typeface="Inter"/>
              </a:rPr>
              <a:t>Job</a:t>
            </a:r>
            <a:r>
              <a:t>
</a:t>
            </a:r>
            <a:r>
              <a:rPr b="1" sz="1050" i="0" u="none">
                <a:solidFill>
                  <a:srgbClr val="0F172A"/>
                </a:solidFill>
                <a:latin typeface="Inter"/>
              </a:rPr>
              <a:t> Role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-285750" y="762000"/>
            <a:ext cx="127635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000" i="0" u="none">
                <a:solidFill>
                  <a:srgbClr val="0F172A"/>
                </a:solidFill>
                <a:latin typeface="Space Grotesk"/>
              </a:rPr>
              <a:t>NLP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1295400" y="4043362"/>
            <a:ext cx="960120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466850" y="3595687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451300" y="3514725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435750" y="3514725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420201" y="3514725"/>
            <a:ext cx="304800" cy="30480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4186" y="4052887"/>
            <a:ext cx="1010126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Space Grotesk"/>
              </a:rPr>
              <a:t>1. Ingest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4609" y="4348162"/>
            <a:ext cx="1869281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475569"/>
                </a:solidFill>
                <a:latin typeface="Inter"/>
              </a:rPr>
              <a:t>Extract string from PDF.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3639" y="3971925"/>
            <a:ext cx="980122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Space Grotesk"/>
              </a:rPr>
              <a:t>2. Clean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2137" y="4267200"/>
            <a:ext cx="2143125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475569"/>
                </a:solidFill>
                <a:latin typeface="Inter"/>
              </a:rPr>
              <a:t>Regex removes emails &amp; URLs.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33068" y="3971925"/>
            <a:ext cx="1310163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Space Grotesk"/>
              </a:rPr>
              <a:t>3. Vectorize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6588" y="4267200"/>
            <a:ext cx="2143125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475569"/>
                </a:solidFill>
                <a:latin typeface="Inter"/>
              </a:rPr>
              <a:t>Convert tokens to numeric matrices.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77526" y="3971925"/>
            <a:ext cx="1190148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1350" i="0" u="none">
                <a:solidFill>
                  <a:srgbClr val="0F172A"/>
                </a:solidFill>
                <a:latin typeface="Space Grotesk"/>
              </a:rPr>
              <a:t>4. Classify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501038" y="4267200"/>
            <a:ext cx="2143125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1050" i="0" u="none">
                <a:solidFill>
                  <a:srgbClr val="475569"/>
                </a:solidFill>
                <a:latin typeface="Inter"/>
              </a:rPr>
              <a:t>Model assigns domain category.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86475" y="1704975"/>
            <a:ext cx="19050" cy="43910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2000" y="2152650"/>
            <a:ext cx="4714875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715125" y="2152650"/>
            <a:ext cx="4714875" cy="1905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400300"/>
            <a:ext cx="171450" cy="2000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790825"/>
            <a:ext cx="190500" cy="20002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181350"/>
            <a:ext cx="219075" cy="2000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5125" y="2400300"/>
            <a:ext cx="219075" cy="20002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15125" y="2795587"/>
            <a:ext cx="171450" cy="2000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15125" y="3190875"/>
            <a:ext cx="219075" cy="20002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62000" y="762000"/>
            <a:ext cx="114300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Dataset &amp; Preprocessing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2000" y="1704975"/>
            <a:ext cx="5050631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891B2"/>
                </a:solidFill>
                <a:latin typeface="Space Grotesk"/>
              </a:rPr>
              <a:t>The Corpus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15125" y="1704975"/>
            <a:ext cx="5050631" cy="314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891B2"/>
                </a:solidFill>
                <a:latin typeface="Space Grotesk"/>
              </a:rPr>
              <a:t>Text Normalization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5850" y="2400300"/>
            <a:ext cx="5569743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Kaggle / Open-source resume dataset.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4900" y="2790825"/>
            <a:ext cx="5550693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Labeled by domain (IT, Finance, HR).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475" y="3181350"/>
            <a:ext cx="5522118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Class balancing applied via SMOTE.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86600" y="2400300"/>
            <a:ext cx="5105400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Stopword removal (the, is, and).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38975" y="2790825"/>
            <a:ext cx="5153025" cy="20955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Lemmatization (running → run).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3190875"/>
            <a:ext cx="5105400" cy="2000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Lowercase conversion and punctuation strip.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1704975"/>
            <a:ext cx="5143500" cy="4391025"/>
          </a:xfrm>
          <a:prstGeom prst="roundRect">
            <a:avLst>
              <a:gd name="adj" fmla="val 2603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86500" y="1704975"/>
            <a:ext cx="5143500" cy="4391025"/>
          </a:xfrm>
          <a:prstGeom prst="roundRect">
            <a:avLst>
              <a:gd name="adj" fmla="val 2603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1704975"/>
            <a:ext cx="38100" cy="4391025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286500" y="1704975"/>
            <a:ext cx="38100" cy="4391025"/>
          </a:xfrm>
          <a:prstGeom prst="rect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762000"/>
            <a:ext cx="114300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Core ML Algorithms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1100" y="2085975"/>
            <a:ext cx="5700712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TF-IDF Vectorization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1100" y="2609850"/>
            <a:ext cx="5429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Inter"/>
              </a:rPr>
              <a:t>Term Frequency-Inverse Document Frequency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1100" y="2962275"/>
            <a:ext cx="44386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Evaluates word importance mathematically, downweighting common words and prioritizing domain-specific skills (e.g., "Python", "GAAP").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05600" y="2085975"/>
            <a:ext cx="5486400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F172A"/>
                </a:solidFill>
                <a:latin typeface="Space Grotesk"/>
              </a:rPr>
              <a:t>Classification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600" y="2609850"/>
            <a:ext cx="542925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475569"/>
                </a:solidFill>
                <a:latin typeface="Inter"/>
              </a:rPr>
              <a:t>Random Forest / SVM / KNN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05600" y="2962275"/>
            <a:ext cx="443865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Inter"/>
              </a:rPr>
              <a:t>Supervised learning model trained on the vectorized matrix to define decision boundaries separating distinct job categories.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38850" y="3705225"/>
            <a:ext cx="19050" cy="1143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-285750" y="762000"/>
            <a:ext cx="12763500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200" i="0" u="none">
                <a:solidFill>
                  <a:srgbClr val="0891B2"/>
                </a:solidFill>
                <a:latin typeface="Space Grotesk"/>
              </a:rPr>
              <a:t>MODEL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285750" y="1114425"/>
            <a:ext cx="12763500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0F172A"/>
                </a:solidFill>
                <a:latin typeface="Space Grotesk"/>
              </a:rPr>
              <a:t>Testing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24150" y="3629025"/>
            <a:ext cx="2262187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b="1" sz="7200" i="0" u="none">
                <a:solidFill>
                  <a:srgbClr val="0F172A"/>
                </a:solidFill>
                <a:latin typeface="Space Grotesk"/>
              </a:rPr>
              <a:t>98%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76550" y="4695825"/>
            <a:ext cx="188118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Global Accuracy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62850" y="3629025"/>
            <a:ext cx="2381250" cy="914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7200"/>
              </a:lnSpc>
            </a:pPr>
            <a:r>
              <a:rPr b="1" sz="7200" i="0" u="none">
                <a:solidFill>
                  <a:srgbClr val="0891B2"/>
                </a:solidFill>
                <a:latin typeface="Space Grotesk"/>
              </a:rPr>
              <a:t>0.97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91450" y="4695825"/>
            <a:ext cx="180975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Inter"/>
              </a:rPr>
              <a:t>Macro F1-Score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1237" y="1857375"/>
            <a:ext cx="9525" cy="423862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762000"/>
            <a:ext cx="11430000" cy="4857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3000" i="0" u="none">
                <a:solidFill>
                  <a:srgbClr val="0F172A"/>
                </a:solidFill>
                <a:latin typeface="Space Grotesk"/>
              </a:rPr>
              <a:t>Challenges &amp;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857375"/>
            <a:ext cx="6394549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891B2"/>
                </a:solidFill>
                <a:latin typeface="Space Grotesk"/>
              </a:rPr>
              <a:t>Parsing 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57962" y="1857375"/>
            <a:ext cx="5634037" cy="295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891B2"/>
                </a:solidFill>
                <a:latin typeface="Space Grotesk"/>
              </a:rPr>
              <a:t>Future Improvements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381250"/>
            <a:ext cx="4967287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Complex Layouts</a:t>
            </a:r>
            <a:r>
              <a:rPr b="1" sz="1500" i="0" u="none">
                <a:solidFill>
                  <a:srgbClr val="0F172A"/>
                </a:solidFill>
                <a:latin typeface="Inter"/>
              </a:rPr>
              <a:t> </a:t>
            </a:r>
            <a:r>
              <a:rPr b="1" sz="1200" i="0" u="none">
                <a:solidFill>
                  <a:srgbClr val="475569"/>
                </a:solidFill>
                <a:latin typeface="Inter"/>
              </a:rPr>
              <a:t>Multi-column resumes confuse standard top-down PDF parsers.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105150"/>
            <a:ext cx="4967287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Implicit Skills</a:t>
            </a:r>
            <a:r>
              <a:rPr b="1" sz="1500" i="0" u="none">
                <a:solidFill>
                  <a:srgbClr val="0F172A"/>
                </a:solidFill>
                <a:latin typeface="Inter"/>
              </a:rPr>
              <a:t> </a:t>
            </a:r>
            <a:r>
              <a:rPr b="1" sz="1200" i="0" u="none">
                <a:solidFill>
                  <a:srgbClr val="475569"/>
                </a:solidFill>
                <a:latin typeface="Inter"/>
              </a:rPr>
              <a:t>TF-IDF misses contextual skills not explicitly named in the text.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7962" y="2381250"/>
            <a:ext cx="4967287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Word Embeddings</a:t>
            </a:r>
            <a:r>
              <a:rPr b="1" sz="1500" i="0" u="none">
                <a:solidFill>
                  <a:srgbClr val="0F172A"/>
                </a:solidFill>
                <a:latin typeface="Inter"/>
              </a:rPr>
              <a:t> </a:t>
            </a:r>
            <a:r>
              <a:rPr b="1" sz="1200" i="0" u="none">
                <a:solidFill>
                  <a:srgbClr val="475569"/>
                </a:solidFill>
                <a:latin typeface="Inter"/>
              </a:rPr>
              <a:t>Transitioning from TF-IDF to Word2Vec or BERT for semantic context.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7962" y="3295650"/>
            <a:ext cx="4967287" cy="495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Named Entity Recognition (NER)</a:t>
            </a:r>
            <a:r>
              <a:rPr b="1" sz="1500" i="0" u="none">
                <a:solidFill>
                  <a:srgbClr val="0F172A"/>
                </a:solidFill>
                <a:latin typeface="Inter"/>
              </a:rPr>
              <a:t> </a:t>
            </a:r>
            <a:r>
              <a:rPr b="1" sz="1200" i="0" u="none">
                <a:solidFill>
                  <a:srgbClr val="475569"/>
                </a:solidFill>
                <a:latin typeface="Inter"/>
              </a:rPr>
              <a:t>Extracting exact entities (Degree, Org, Years of Exp).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2000" y="609600"/>
            <a:ext cx="11430000" cy="4381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F172A"/>
                </a:solidFill>
                <a:latin typeface="Space Grotesk"/>
              </a:rPr>
              <a:t>Technical 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62000" y="1428750"/>
            <a:ext cx="63817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1. TF-IDF vs Word Embeddings (Word2Vec)?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1724025"/>
            <a:ext cx="5200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TF-IDF represents term frequency but ignores semantic meaning and word relationships.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0" y="2409825"/>
            <a:ext cx="63817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2. How to handle class imbalance in HR data?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62000" y="2705100"/>
            <a:ext cx="5200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Use SMOTE to oversample minority classes or adjust class weights in the classifier.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3390900"/>
            <a:ext cx="63817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3. Why remove stopwords?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686175"/>
            <a:ext cx="5200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Reduces dimensionality and noise, allowing the model to focus on domain-specific keywords.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24600" y="1428750"/>
            <a:ext cx="58674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4. Precision vs. Recall in resume screening?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24600" y="1724025"/>
            <a:ext cx="5200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High recall is preferred so no good candidate is missed, leaving final filtering to humans.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24600" y="2409825"/>
            <a:ext cx="586740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Space Grotesk"/>
              </a:rPr>
              <a:t>5. Dealing with Out-Of-Vocabulary (OOV) words?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4600" y="2705100"/>
            <a:ext cx="5200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Inter"/>
              </a:rPr>
              <a:t>Subword tokenization (like BPE used in BERT) handles OOV by breaking them into known chunks.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9687" y="4239517"/>
            <a:ext cx="295275" cy="3048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9450" y="4239517"/>
            <a:ext cx="266700" cy="304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26628" y="2008882"/>
            <a:ext cx="9938742" cy="6762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4200" i="0" u="none">
                <a:solidFill>
                  <a:srgbClr val="F8FAFC"/>
                </a:solidFill>
                <a:latin typeface="Space Grotesk"/>
              </a:rPr>
              <a:t>Data-Driven Talent Discovery.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8812" y="2989957"/>
            <a:ext cx="8334375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520"/>
              </a:lnSpc>
            </a:pPr>
            <a:r>
              <a:rPr b="0" sz="1800" i="0" u="none">
                <a:solidFill>
                  <a:srgbClr val="94A3B8"/>
                </a:solidFill>
                <a:latin typeface="Inter"/>
              </a:rPr>
              <a:t>Scaling HR operations through intelligent natural language processing.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29125" y="4658617"/>
            <a:ext cx="20955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Inter"/>
              </a:rPr>
              <a:t>/tmthangaraj1980-AIML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62725" y="4658617"/>
            <a:ext cx="1500187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F8FAFC"/>
                </a:solidFill>
                <a:latin typeface="Inter"/>
              </a:rPr>
              <a:t>tmthangaraj1980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71500" y="847725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1500" y="1619250"/>
            <a:ext cx="11049000" cy="7715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71500" y="16097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71500" y="16097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71500" y="2381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71500" y="23812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990600"/>
            <a:ext cx="857250" cy="4762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762125"/>
            <a:ext cx="857250" cy="4762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533650"/>
            <a:ext cx="857250" cy="4762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1500" y="571500"/>
            <a:ext cx="2175271" cy="2762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800" i="0" u="none">
                <a:solidFill>
                  <a:srgbClr val="000000"/>
                </a:solidFill>
                <a:latin typeface="Inter"/>
              </a:rPr>
              <a:t>Image Sources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66875" y="1033462"/>
            <a:ext cx="74771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Inter"/>
              </a:rPr>
              <a:t>https://repository-images.githubusercontent.com/396035212/8b111666-419f-431f-bef9-1dcfda6efcd0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6875" y="1233487"/>
            <a:ext cx="176212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github.com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66875" y="1804987"/>
            <a:ext cx="920353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Inter"/>
              </a:rPr>
              <a:t>https://cdn.dribbble.com/userupload/45788503/file/b1676f6d71c218be5825d216432d1398.png?resize=752x&amp;vertical=center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66875" y="2005012"/>
            <a:ext cx="195262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dribbble.com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66875" y="2576512"/>
            <a:ext cx="4310062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975" i="0" u="none">
                <a:solidFill>
                  <a:srgbClr val="000000"/>
                </a:solidFill>
                <a:latin typeface="Inter"/>
              </a:rPr>
              <a:t>https://www.superannotate.com/c/52_13_d9d5926ec1.png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66875" y="2776537"/>
            <a:ext cx="2988468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000000"/>
                </a:solidFill>
                <a:latin typeface="Inter"/>
              </a:rPr>
              <a:t>Source: </a:t>
            </a:r>
            <a:r>
              <a:rPr b="0" sz="1200" i="0" u="none">
                <a:solidFill>
                  <a:srgbClr val="4F46E5"/>
                </a:solidFill>
                <a:latin typeface="Inter"/>
              </a:rPr>
              <a:t>www.superannotate.com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