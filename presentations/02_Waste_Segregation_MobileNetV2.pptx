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3223a35d-db2f-6e0b-7287-c8ed811aeb8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Hackathon project. The app takes a photo of waste, predicts a category with a transfer-learned CNN, and shows bilingual disposal guidance. Be ready for one honest point: the README says MobileNetV2, but the code in the repository trains EfficientNetB0.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it as a complete small product: model, rules-based guidance, bilingual UI. The model is the ML part; the guidance text is a curated lookup.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README frames it as pollution, health risk and weak smart-city waste management. The root cause is mixed waste at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Users: households, school or campus eco-clubs, municipal awareness drives.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requirements.txt (tensorflow, streamlit, pillow, numpy) and the imports. run_app.py is a convenience launcher that starts Streamlit and opens Chrome.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thing an interviewer may catch. The README and the project name say MobileNetV2, but train_model.py imports EfficientNetB0 and the app uses efficientnet preprocess_input. I present the code as the source of truth and recommend updating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MobileNetV2 introduced inverted residual blocks with linear bottlenecks: expand channels, depthwise convolution, project back down, with a skip connection between the thin ends. EfficientNet reuses this block (MBConv) and adds squeeze-and-excitation and compound scaling.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 slide: the footer strip on every following slide shows which stage you are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Single-process Streamlit app. cache_resource loads the model once. Class names come from class_names.json written during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folder is expected by train_model.py but not included. The six class keys come from the app knowledge base; the true folder names are written to class_names.json at training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Augmentation is applied only to the training generator; validation images are only preprocessed. Both use the same 80/20 split seed behaviour of Keras.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 learning: the ImageNet-trained backbone already knows edges, textures and shapes. A small new head learns the waste classes. Dropout 0.4 and BatchNorm regularise the 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phases is standard transfer learning: warm up the new head, then gently fine-tune the top of the backbone at a lower learning rate. ModelCheckpoint saves on best val_accuracy.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Softmax turns logits into probabilities that sum to 1. The displayed confidence is the top probability. It is not accuracy and can be high even when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distinction explicit: the CNN only outputs the class. Everything else is hand-written content in a dictionary.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direct: no training or test accuracy exists in the repository. The 97.30 percent figure in the screenshot is the softmax confidence for one image. It must not be quoted as model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are from the repository. Walk through: language selector, upload or camera, prediction with confidence, then the guidance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README lists Tamil and English as future work, but the code already implements both. I note that as an update to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app assigns one label per image. A photo with several items cannot be handled; that is why project 03 uses YOLO.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Method, not invented numbers. Hold out a test set the checkpoint never saw.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limits help in interviews: single-item classification, unverified metrics, README mismatch.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ideas plus engineering fixes. Tamil support is already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answer 1: it shows you read your own code critically.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Repository link was cloned and read. No live demo link exists in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a complete small product built on transfer learning, with an honest account of what is verified and what still needs measuring.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8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8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tmthangaraj1980-AIML/AI-Based-Smart-Waste-Segregation-Recycling-Assistan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PORTFOLIO PROJECT  |  COMPUTER VISION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585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Waste Segregation &amp; Recycling Assistant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with transfer learning and bilingual (English / Tamil) disposal guidance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348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| Transfer Learning | Environmental AI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20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Thangaraj T  |  tmthangaraj1980@gmail.com  |  +91 9952045978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github.com/tmthangaraj1980-AIML</a:t>
            </a:r>
            <a:endParaRPr lang="en-US" sz="1400" dirty="0"/>
          </a:p>
        </p:txBody>
      </p:sp>
      <p:pic>
        <p:nvPicPr>
          <p:cNvPr id="7" name="Image 0" descr="/home/claude/waste/Screenshot_13-4-2026_21550_localhos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71600"/>
            <a:ext cx="5029200" cy="2468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75120" y="1371600"/>
            <a:ext cx="5029200" cy="2468880"/>
          </a:xfrm>
          <a:prstGeom prst="rect">
            <a:avLst/>
          </a:prstGeom>
          <a:solidFill>
            <a:srgbClr val="081326">
              <a:alpha val="0"/>
            </a:srgbClr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7512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app screenshot from the repository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4572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at the Techies "N" Smartathon internal hackathon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6583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capture a photo of one waste item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predicts the waste class with a confidence score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base shows segregation stream, disposal, recycling, health and smart-city notes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offline: no online API is called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Tamil interface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589520" y="12801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0" y="1371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in the app knowledge base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283464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2926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square model input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0" y="438912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0" y="44805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5303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languages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waste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and dry waste collected together lowers recycling quality.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awareness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4708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are unsure which stream an item belongs to.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794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and health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2452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dumping and burning harm air, water and public health.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36576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3794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22452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in English alone excludes many households.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use 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32918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waste photo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segregation stream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disposal and recycling advice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English and Tamil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28016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847088"/>
            <a:ext cx="32918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and campuses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awareness programmes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0" y="128016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847088"/>
            <a:ext cx="3200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source segregation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landfill load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Circular-economy awareness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(ImageNet weights)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ImageDataGenerator augmentation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4708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Pillow, NumPy image handling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run_app.py launcher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8404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7024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dictionary per class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Tamil text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Rule-based, not learned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370332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38404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by design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27024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loaded from model/waste_model.keras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Gemini or online API call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input supported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note: README vs source code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50566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EfficientNetB0 (train_model.py)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 preprocess_input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Plastic, Paper, Metal, Organic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keys: biological, cardboard, metal, paper, plastic, trash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 weights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931920"/>
            <a:ext cx="11274552" cy="1965960"/>
          </a:xfrm>
          <a:prstGeom prst="roundRect">
            <a:avLst>
              <a:gd name="adj" fmla="val 3721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069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deck handles it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498848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slides follow the source code (EfficientNetB0, 6 classes). MobileNetV2 is explained as the related efficient-CNN concept. Recommended fix: update the README to match the code.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efficient CNNs and inverted residuals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20824" cy="21031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input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channels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05456" y="242316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70632" y="1371600"/>
            <a:ext cx="2020824" cy="21031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62072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62072" y="201168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1x1 conv widens channels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8888" y="242316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84064" y="1371600"/>
            <a:ext cx="2020824" cy="21031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3x3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01168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spatial filtering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0" y="242316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97496" y="1371600"/>
            <a:ext cx="2020824" cy="21031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88936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88936" y="201168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1x1 linear bottleneck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45752" y="242316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10928" y="1371600"/>
            <a:ext cx="2020824" cy="21031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02368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add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02368" y="2011680"/>
            <a:ext cx="1837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thin ends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8862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315968"/>
            <a:ext cx="5166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inverted residual blocks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mobile speed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00" y="374904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38862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(used here)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4315968"/>
            <a:ext cx="5166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MBConv block family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squeeze-and-excitation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635252" cy="2651760"/>
          </a:xfrm>
          <a:prstGeom prst="roundRect">
            <a:avLst>
              <a:gd name="adj" fmla="val 4473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1452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4523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 or camera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19884" y="27889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385060" y="1463040"/>
            <a:ext cx="1635252" cy="2651760"/>
          </a:xfrm>
          <a:prstGeom prst="roundRect">
            <a:avLst>
              <a:gd name="adj" fmla="val 4473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76500" y="1554480"/>
            <a:ext cx="1452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476500" y="2103120"/>
            <a:ext cx="14523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RGB, 224x224, EfficientNet scaling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47744" y="27889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12920" y="1463040"/>
            <a:ext cx="1635252" cy="2651760"/>
          </a:xfrm>
          <a:prstGeom prst="roundRect">
            <a:avLst>
              <a:gd name="adj" fmla="val 4473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04360" y="1554480"/>
            <a:ext cx="1452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04360" y="2103120"/>
            <a:ext cx="14523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backbone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75604" y="27889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40780" y="1463040"/>
            <a:ext cx="1635252" cy="2651760"/>
          </a:xfrm>
          <a:prstGeom prst="roundRect">
            <a:avLst>
              <a:gd name="adj" fmla="val 4473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32220" y="1554480"/>
            <a:ext cx="1452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32220" y="2103120"/>
            <a:ext cx="14523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softmax, class and confidence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03464" y="27889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68640" y="1463040"/>
            <a:ext cx="1635252" cy="2651760"/>
          </a:xfrm>
          <a:prstGeom prst="roundRect">
            <a:avLst>
              <a:gd name="adj" fmla="val 4473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0080" y="1554480"/>
            <a:ext cx="1452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60080" y="2103120"/>
            <a:ext cx="14523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lookup of advice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831324" y="27889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96500" y="1463040"/>
            <a:ext cx="1635252" cy="2651760"/>
          </a:xfrm>
          <a:prstGeom prst="roundRect">
            <a:avLst>
              <a:gd name="adj" fmla="val 4473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87940" y="1554480"/>
            <a:ext cx="1452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187940" y="2103120"/>
            <a:ext cx="14523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result in EN or Tamil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5720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2 to 4 are the machine-learning part. Stage 5 is a rule-based lookup keyed by the predicted class.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20824" cy="237744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upload / camera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05456" y="25603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70632" y="1371600"/>
            <a:ext cx="2020824" cy="237744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62072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+ NumPy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62072" y="201168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array, preprocess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8888" y="25603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84064" y="1371600"/>
            <a:ext cx="2020824" cy="237744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model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01168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waste_model.keras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0" y="25603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97496" y="1371600"/>
            <a:ext cx="2020824" cy="237744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88936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class_names.json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88936" y="201168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to class name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45752" y="256032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10928" y="1371600"/>
            <a:ext cx="2020824" cy="237744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02368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waste_data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02368" y="2011680"/>
            <a:ext cx="1837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guidance dictionary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11274552" cy="1828800"/>
          </a:xfrm>
          <a:prstGeom prst="roundRect">
            <a:avLst>
              <a:gd name="adj" fmla="val 4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2062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repository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636008"/>
            <a:ext cx="10908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file, class_names.json and the dataset folder are not committed. The repo holds code and screenshots only, so the model cannot be re-run from a clone without retraining.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knowledge source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99182" cy="2011680"/>
          </a:xfrm>
          <a:prstGeom prst="roundRect">
            <a:avLst>
              <a:gd name="adj" fmla="val 3636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dataset/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2416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folder per class (not in repo)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83814" y="237744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48990" y="1371600"/>
            <a:ext cx="2599182" cy="2011680"/>
          </a:xfrm>
          <a:prstGeom prst="roundRect">
            <a:avLst>
              <a:gd name="adj" fmla="val 3636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0430" y="146304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flow_from_directory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40430" y="2011680"/>
            <a:ext cx="2416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from folder names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75604" y="237744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40780" y="1371600"/>
            <a:ext cx="2599182" cy="2011680"/>
          </a:xfrm>
          <a:prstGeom prst="roundRect">
            <a:avLst>
              <a:gd name="adj" fmla="val 3636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2220" y="146304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split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32220" y="2011680"/>
            <a:ext cx="2416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validation_split = 0.2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867394" y="237744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32570" y="1371600"/>
            <a:ext cx="2599182" cy="2011680"/>
          </a:xfrm>
          <a:prstGeom prst="roundRect">
            <a:avLst>
              <a:gd name="adj" fmla="val 3636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24010" y="146304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class_names.json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24010" y="2011680"/>
            <a:ext cx="2416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after training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5532120" cy="2286000"/>
          </a:xfrm>
          <a:prstGeom prst="roundRect">
            <a:avLst>
              <a:gd name="adj" fmla="val 32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7490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handled by the app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178808"/>
            <a:ext cx="5166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biological, cardboard, metal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plastic, trash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label falls back to trash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3611880"/>
            <a:ext cx="5532120" cy="2286000"/>
          </a:xfrm>
          <a:prstGeom prst="roundRect">
            <a:avLst>
              <a:gd name="adj" fmla="val 32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37490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178808"/>
            <a:ext cx="5166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name and source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counts per class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and augmentation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852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size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 x 224, RGB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 preprocess_input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/ zoom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deg / 0.2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(width, height)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 / 0.2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flip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583680" y="1280160"/>
            <a:ext cx="5120640" cy="4617720"/>
          </a:xfrm>
          <a:prstGeom prst="roundRect">
            <a:avLst>
              <a:gd name="adj" fmla="val 1584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6656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augment?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1847088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training photos rarely cover every angle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changes reduce overfitting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training data only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635252" cy="2286000"/>
          </a:xfrm>
          <a:prstGeom prst="roundRect">
            <a:avLst>
              <a:gd name="adj" fmla="val 4473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1452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4523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224x224x3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19884" y="260604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385060" y="1463040"/>
            <a:ext cx="1635252" cy="2286000"/>
          </a:xfrm>
          <a:prstGeom prst="roundRect">
            <a:avLst>
              <a:gd name="adj" fmla="val 4473"/>
            </a:avLst>
          </a:prstGeom>
          <a:solidFill>
            <a:srgbClr val="0F234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76500" y="1554480"/>
            <a:ext cx="1452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476500" y="2103120"/>
            <a:ext cx="14523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weights, no top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47744" y="260604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12920" y="1463040"/>
            <a:ext cx="1635252" cy="2286000"/>
          </a:xfrm>
          <a:prstGeom prst="roundRect">
            <a:avLst>
              <a:gd name="adj" fmla="val 4473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04360" y="1554480"/>
            <a:ext cx="1452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04360" y="2103120"/>
            <a:ext cx="14523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 to vector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75604" y="260604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40780" y="1463040"/>
            <a:ext cx="1635252" cy="2286000"/>
          </a:xfrm>
          <a:prstGeom prst="roundRect">
            <a:avLst>
              <a:gd name="adj" fmla="val 4473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32220" y="1554480"/>
            <a:ext cx="1452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32220" y="2103120"/>
            <a:ext cx="14523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03464" y="260604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68640" y="1463040"/>
            <a:ext cx="1635252" cy="2286000"/>
          </a:xfrm>
          <a:prstGeom prst="roundRect">
            <a:avLst>
              <a:gd name="adj" fmla="val 4473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0080" y="1554480"/>
            <a:ext cx="1452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256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60080" y="2103120"/>
            <a:ext cx="14523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Dropout 0.4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831324" y="260604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96500" y="1463040"/>
            <a:ext cx="1635252" cy="2286000"/>
          </a:xfrm>
          <a:prstGeom prst="roundRect">
            <a:avLst>
              <a:gd name="adj" fmla="val 4473"/>
            </a:avLst>
          </a:prstGeom>
          <a:solidFill>
            <a:srgbClr val="0F23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87940" y="1554480"/>
            <a:ext cx="1452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187940" y="2103120"/>
            <a:ext cx="14523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output per class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here: the new head, then the last 30 backbone layers. Pretrained, not trained here: the ImageNet backbone weights.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63112" cy="1828800"/>
          </a:xfrm>
          <a:prstGeom prst="roundRect">
            <a:avLst>
              <a:gd name="adj" fmla="val 400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338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3380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frozen, Adam 1e-3, up to 10 epochs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47744" y="22860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312920" y="1371600"/>
            <a:ext cx="3563112" cy="1828800"/>
          </a:xfrm>
          <a:prstGeom prst="roundRect">
            <a:avLst>
              <a:gd name="adj" fmla="val 4000"/>
            </a:avLst>
          </a:prstGeom>
          <a:solidFill>
            <a:srgbClr val="0F2342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04360" y="1463040"/>
            <a:ext cx="338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04360" y="2011680"/>
            <a:ext cx="3380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last 30 layers, Adam 1e-4, 5 epochs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03464" y="22860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168640" y="1371600"/>
            <a:ext cx="3563112" cy="1828800"/>
          </a:xfrm>
          <a:prstGeom prst="roundRect">
            <a:avLst>
              <a:gd name="adj" fmla="val 4000"/>
            </a:avLst>
          </a:prstGeom>
          <a:solidFill>
            <a:srgbClr val="0F23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60080" y="1463040"/>
            <a:ext cx="338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60080" y="2011680"/>
            <a:ext cx="3380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model/waste_model.keras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11274552" cy="2423160"/>
          </a:xfrm>
          <a:prstGeom prst="roundRect">
            <a:avLst>
              <a:gd name="adj" fmla="val 3019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611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041648"/>
            <a:ext cx="10908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on val_loss (patience 3, restore best weights)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(factor 0.2, patience 2)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ModelCheckpoint on val_accuracy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and softmax confidence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20824" cy="228600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image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837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RGB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05456" y="25146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70632" y="1371600"/>
            <a:ext cx="2020824" cy="228600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62072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+ scale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62072" y="2011680"/>
            <a:ext cx="1837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224x224, preprocess_input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8888" y="25146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84064" y="1371600"/>
            <a:ext cx="2020824" cy="228600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model.predict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011680"/>
            <a:ext cx="1837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vector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0" y="25146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97496" y="1371600"/>
            <a:ext cx="2020824" cy="228600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88936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88936" y="2011680"/>
            <a:ext cx="1837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top index; confidence = max x 100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45752" y="25146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10928" y="1371600"/>
            <a:ext cx="2020824" cy="228600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02368" y="146304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check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02368" y="2011680"/>
            <a:ext cx="1837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60% shows a warning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11274552" cy="1874520"/>
          </a:xfrm>
          <a:prstGeom prst="roundRect">
            <a:avLst>
              <a:gd name="adj" fmla="val 3902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1605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confidence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590288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means the model was very sure of its top class on that image, not that it is 97% accurate overall.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5: guidance is a rule-based lookup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400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class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Segregation stream shown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biological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Biodegradable / Wet Waste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cardboard, paper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 Recyclable Waste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metal, plastic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 Recyclable Waste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trash (and unknown labels)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/ Mixed Waste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132320" y="1280160"/>
            <a:ext cx="4572000" cy="4617720"/>
          </a:xfrm>
          <a:prstGeom prst="roundRect">
            <a:avLst>
              <a:gd name="adj" fmla="val 16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0" y="1417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also has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184708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method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/ reuse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Composting or energy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and smart-city notes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note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evaluation: what is verified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32918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trains with an 80/20 split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runs and returns class and confidence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one prediction at 97.30% confidence (single image)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28016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847088"/>
            <a:ext cx="32918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validation accuracy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precision and recall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0" y="128016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847088"/>
            <a:ext cx="3200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ModelCheckpoint and reporting use the same validation set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test set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numbers would be optimistic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demonstration</a:t>
            </a:r>
            <a:endParaRPr lang="en-US" sz="3200" dirty="0"/>
          </a:p>
        </p:txBody>
      </p:sp>
      <p:pic>
        <p:nvPicPr>
          <p:cNvPr id="3" name="Image 0" descr="/home/claude/waste/Screenshot_13-4-2026_21550_localhos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532120" cy="2715768"/>
          </a:xfrm>
          <a:prstGeom prst="rect">
            <a:avLst/>
          </a:prstGeom>
        </p:spPr>
      </p:pic>
      <p:pic>
        <p:nvPicPr>
          <p:cNvPr id="4" name="Image 1" descr="/home/claude/waste/Screenshot_13-4-2026_21720_localhost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80160"/>
            <a:ext cx="5532120" cy="271576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8132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2194560" y="2651760"/>
            <a:ext cx="384048" cy="38404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8132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19456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263640" y="1371600"/>
            <a:ext cx="384048" cy="38404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8132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636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503920" y="2377440"/>
            <a:ext cx="384048" cy="38404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8132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20624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selector and offline note. 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camera input.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172200" y="420624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class: Biological. 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97.30%, then category and stream.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screenshots from the project repository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interface (Tamil)</a:t>
            </a:r>
            <a:endParaRPr lang="en-US" sz="3200" dirty="0"/>
          </a:p>
        </p:txBody>
      </p:sp>
      <p:pic>
        <p:nvPicPr>
          <p:cNvPr id="3" name="Image 0" descr="/home/claude/waste/Screenshot_13-4-2026_21754_localhos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532120" cy="2715768"/>
          </a:xfrm>
          <a:prstGeom prst="rect">
            <a:avLst/>
          </a:prstGeom>
        </p:spPr>
      </p:pic>
      <p:pic>
        <p:nvPicPr>
          <p:cNvPr id="4" name="Image 1" descr="/home/claude/waste/Screenshot_13-4-2026_21841_localhost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80160"/>
            <a:ext cx="5532120" cy="271576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4206240"/>
            <a:ext cx="11274552" cy="1691640"/>
          </a:xfrm>
          <a:prstGeom prst="roundRect">
            <a:avLst>
              <a:gd name="adj" fmla="val 4324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43434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4773168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 in Tamil: the full interface and every guidance section switch language from the sidebar dropdown. Actual screenshots from the repository.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vs object detection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(this project)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51663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for the whole image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classes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a single item in frame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locations returned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(YOLO project)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47088"/>
            <a:ext cx="51663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objects per image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+ labels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mixed scenes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mAP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evaluate this model properly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017520"/>
                <a:gridCol w="53309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81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correctness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test folder, never used in checkpointing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Confusion matrix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classes mix 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 confusion_matrix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Per-class precision / 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imbalance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classification_report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Real-photo 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shift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photos, mixed backgrounds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97% really 97%?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vs accuracy bins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 and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per image only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or dirty items are hard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not accuracy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4708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metrics committed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dataset not in repo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mismatch (MobileNetV2)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8404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7024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text, not learned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rules vary by city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warning only below 60%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370332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38404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27024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unpinned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tests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files must be shared separately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and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20824" cy="25603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837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README, pin requirements, add model card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05456" y="27432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70632" y="1463040"/>
            <a:ext cx="2020824" cy="25603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62072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62072" y="2103120"/>
            <a:ext cx="1837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split, confusion matrix, calibration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8888" y="27432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84064" y="1463040"/>
            <a:ext cx="2020824" cy="25603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103120"/>
            <a:ext cx="1837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multi-item scenes with YOLO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0" y="27432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97496" y="1463040"/>
            <a:ext cx="2020824" cy="25603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88936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88936" y="2103120"/>
            <a:ext cx="1837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or mobile app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45752" y="2743200"/>
            <a:ext cx="23774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10928" y="1463040"/>
            <a:ext cx="2020824" cy="2560320"/>
          </a:xfrm>
          <a:prstGeom prst="roundRect">
            <a:avLst>
              <a:gd name="adj" fmla="val 3620"/>
            </a:avLst>
          </a:prstGeom>
          <a:solidFill>
            <a:srgbClr val="0F23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02368" y="15544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02368" y="2103120"/>
            <a:ext cx="1837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smart bin (README idea)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model does the code use?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with ImageNet weights; the README says MobileNetV2, a mismatch I would correct.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transfer learning?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3288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pretrained backbone supplies visual features, so a small waste dataset trains faster with less overfitting.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54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does the confidence mean?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9300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softmax probability. It is not accuracy and can be high on a wrong class.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Which outputs are ML and which are rules?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453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class and confidence are ML. Disposal and impact text is a hand-written dictionary.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0749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Classification vs detection?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4132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gives one label per image; detection locates several objects with boxes, which suits mixed waste.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and missing details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32120" cy="4617720"/>
          </a:xfrm>
          <a:prstGeom prst="roundRect">
            <a:avLst>
              <a:gd name="adj" fmla="val 1584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5166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(code, README, 4 screenshots)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run: streamlit run app.py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demo URL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532120" cy="4617720"/>
          </a:xfrm>
          <a:prstGeom prst="roundRect">
            <a:avLst>
              <a:gd name="adj" fmla="val 1584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unverified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47088"/>
            <a:ext cx="5166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name and size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and class_names.json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confusion matrix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class folder names</a:t>
            </a:r>
            <a:endParaRPr lang="en-US" sz="1600" dirty="0"/>
          </a:p>
        </p:txBody>
      </p:sp>
      <p:sp>
        <p:nvSpPr>
          <p:cNvPr id="9" name="Text 7">
            <a:hlinkClick r:id="rId1" tooltip=""/>
          </p:cNvPr>
          <p:cNvSpPr txBox="1"/>
          <p:nvPr/>
        </p:nvSpPr>
        <p:spPr>
          <a:xfrm>
            <a:off x="640080" y="42976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22D3EE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github.com/tmthangaraj1980-AIML/AI-Based-Smart-Waste-Segregation-Recycling-Assistant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Upload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65553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65553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Preprocess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73906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73906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2258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82258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90611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90611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998964" y="61447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98964" y="6144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Display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21408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with Keras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and fine-tuning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with bilingual UI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code critically against docs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ML output from rules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F23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impact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21408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aid for waste segregation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and bilingual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path to detection and IoT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Thangaraj T  |  tmthangaraj1980@gmail.com  |  +91 9952045978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folio Navy">
  <a:themeElements>
    <a:clrScheme name="Portfolio Navy">
      <a:dk1>
        <a:srgbClr val="081326"/>
      </a:dk1>
      <a:lt1>
        <a:srgbClr val="FFFFFF"/>
      </a:lt1>
      <a:dk2>
        <a:srgbClr val="0F2342"/>
      </a:dk2>
      <a:lt2>
        <a:srgbClr val="9FB3CF"/>
      </a:lt2>
      <a:accent1>
        <a:srgbClr val="22D3EE"/>
      </a:accent1>
      <a:accent2>
        <a:srgbClr val="3B82F6"/>
      </a:accent2>
      <a:accent3>
        <a:srgbClr val="34D399"/>
      </a:accent3>
      <a:accent4>
        <a:srgbClr val="FBBF24"/>
      </a:accent4>
      <a:accent5>
        <a:srgbClr val="F87171"/>
      </a:accent5>
      <a:accent6>
        <a:srgbClr val="A78BFA"/>
      </a:accent6>
      <a:hlink>
        <a:srgbClr val="22D3EE"/>
      </a:hlink>
      <a:folHlink>
        <a:srgbClr val="9FB3CF"/>
      </a:folHlink>
    </a:clrScheme>
    <a:fontScheme name="Portfolio Nav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Smart Waste Segregation &amp; Recycling Assistant</dc:title>
  <dc:subject>PptxGenJS Presentation</dc:subject>
  <dc:creator>Thangaraj T</dc:creator>
  <cp:lastModifiedBy>Thangaraj T</cp:lastModifiedBy>
  <cp:revision>1</cp:revision>
  <dcterms:created xsi:type="dcterms:W3CDTF">2026-10-22T11:17:11Z</dcterms:created>
  <dcterms:modified xsi:type="dcterms:W3CDTF">2026-10-22T11:17:11Z</dcterms:modified>
</cp:coreProperties>
</file>